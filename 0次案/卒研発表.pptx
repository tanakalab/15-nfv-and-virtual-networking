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6" r:id="rId6"/>
    <p:sldId id="261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E8D"/>
    <a:srgbClr val="156082"/>
    <a:srgbClr val="08464C"/>
    <a:srgbClr val="A1EDF5"/>
    <a:srgbClr val="F17C1D"/>
    <a:srgbClr val="0F7C86"/>
    <a:srgbClr val="A2D8F0"/>
    <a:srgbClr val="113160"/>
    <a:srgbClr val="E9D144"/>
    <a:srgbClr val="E7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E3885-3256-4B9F-8882-5B1297EDF95C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F9A49-D64E-43C2-9FC1-8F4D9532AE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41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9A49-D64E-43C2-9FC1-8F4D9532AEC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155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F9A49-D64E-43C2-9FC1-8F4D9532AECF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98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22D28-1E2F-2E86-635A-F0B90C8AE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B5D781-E38A-3846-FDEE-7521A1208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40E0FF-9785-8414-AAF3-346DA3A9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DE8B18-1E79-9DB4-BF26-669C3183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16D042-8FA5-679C-1319-3815F98B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87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C8AB98-0F37-001F-04EA-1B076C84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045522-1C40-05B1-9EB7-213EA0A06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E26F60-14DF-1C96-ADCA-02B14B1E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44D84A-97FF-3CFA-06A8-E756D549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A9AFEA-2AE7-5E08-CF60-3F4A3671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673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C5282-C8DB-CF60-7827-8930535C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5B2FD5-6214-60B2-2A91-A10F8CCF4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4EDA1E-9A4E-F4E4-0D35-E6D9FDA90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B42AEE-EC9B-5ACE-6546-81381DD3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601A28-5DB1-8C29-92F9-5BEE3750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10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299BC7-D256-7FF0-DD42-6FE2C05EE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916D01-0BF2-1E93-72EB-673431E5B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1AB2C5-2CAA-8120-AE30-D28A7755F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3F00A3-7E40-F794-FC1E-E0252641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660507-C5E5-78AA-A89A-92E9EE85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5FA808-9A17-F4E4-2DF4-476039A9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42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112745-E8D3-2202-B1D3-F8AC5C94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758C0E-9341-1324-58D7-3CCDBF810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6E85BF-333E-6D15-4A5B-C70E3CA9A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8DB324-19DB-2C74-D9B9-5D271C218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3D55159-E143-D13C-07A2-8267A9F0D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4029D6-09B1-59A0-C46B-22E878C0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95E40C-0CE5-154F-8683-943FA29F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BF5640-392B-C20E-D99A-671986D6B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89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AAEF8-9B30-C22B-18A2-CA6D70B9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0FFEE0-8023-0CFE-48F2-545D451C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38C42F-E8D5-8F9D-700F-1C96FAA1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AC7715-EED3-2F67-C652-41B7BA68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9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D17785-8CB4-CBA0-11FD-F5472B60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E9D709-F637-2E65-B55E-4E708B40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21DE51-C9A6-15E9-11F9-9F130A91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12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D41BD9-B849-D34D-EB67-E620C6FC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15041A-3AE4-07D9-AE1D-9A4CCDEC9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B0014E-DAD0-8DF0-1307-692B87AED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3862F6-1BB7-9F12-3E1B-5F070CD08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9FBE4B-2FCF-05FA-B5DB-BBE321C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EF1B4C-28FF-2FEE-D1AA-A8B41912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48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0022A9-C146-6BEA-3818-B710C5AC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97D2B69-9176-FC21-7F20-3FE973D8D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207583-DC30-7F52-5736-B0DEB882B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C02987-ACF6-41BE-6508-C9E16130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7D7DB4-8FB7-2EE2-01D4-387BBFDA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6217C9-28C5-E5B7-E067-826F1817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69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486FA-D0C7-B385-0EAE-E2349508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8A0CF5-C84F-5836-9CC8-38980D8F7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10C2B5-74C1-CC0F-497D-1CD803A6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F675A5-6B39-119C-81D0-47C19101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41718A-B2BB-7D43-34F1-62973B0C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93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4DEE025-05E8-554A-021A-0496A1739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887793-89ED-4CFC-5FFA-E1DDE9426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21A2AA-ED85-DF79-E797-F5C5C839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9F649D-7B86-D6E6-6E79-6CE6E77F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759A4B-8173-64BA-D225-4BB38A0D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900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10C8E10-BF5E-7A0F-13A1-71CACAEE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30682-73C8-4BA0-91B7-7C201AACD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C68E99-370E-2A0C-18F2-5C6640623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EB2B4-2A3D-4984-9DB1-40EC1C35540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DCA3DD-AEEC-7A5F-48C3-411C55798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6AB5B3-A534-4DEB-328D-0AA70FAA5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104AB-1943-45EB-BF83-1F9C0DDCBA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52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18D4DA8-0316-DFE4-D1C2-01120B742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067" y="1288636"/>
            <a:ext cx="9186727" cy="3081242"/>
          </a:xfrm>
        </p:spPr>
        <p:txBody>
          <a:bodyPr anchor="ctr">
            <a:normAutofit/>
          </a:bodyPr>
          <a:lstStyle/>
          <a:p>
            <a:r>
              <a:rPr lang="ja-JP" altLang="ja-JP" sz="4800" b="1" dirty="0">
                <a:solidFill>
                  <a:srgbClr val="FFFFFF"/>
                </a:solidFill>
              </a:rPr>
              <a:t>NFV上の最適経路割り当て問題</a:t>
            </a:r>
            <a:endParaRPr kumimoji="1" lang="ja-JP" altLang="en-US" sz="4800" b="1" dirty="0">
              <a:solidFill>
                <a:srgbClr val="FFFFFF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7F39CE-C7CF-B18B-4943-E3E9FFB22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ja-JP" altLang="ja-JP">
                <a:solidFill>
                  <a:srgbClr val="FFFFFF"/>
                </a:solidFill>
              </a:rPr>
              <a:t>田中研究室: 河本　明日翔</a:t>
            </a:r>
            <a:endParaRPr kumimoji="1" lang="ja-JP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67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91BE5-3EE6-D721-6A5E-395C9A61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5" y="365125"/>
            <a:ext cx="11742821" cy="1325563"/>
          </a:xfrm>
        </p:spPr>
        <p:txBody>
          <a:bodyPr/>
          <a:lstStyle/>
          <a:p>
            <a:r>
              <a:rPr lang="ja-JP" altLang="en-US" b="1" dirty="0">
                <a:solidFill>
                  <a:srgbClr val="113160"/>
                </a:solidFill>
              </a:rPr>
              <a:t>仮想ネットワーク埋め込み問題（</a:t>
            </a:r>
            <a:r>
              <a:rPr lang="en-US" altLang="ja-JP" b="1" dirty="0">
                <a:solidFill>
                  <a:srgbClr val="113160"/>
                </a:solidFill>
              </a:rPr>
              <a:t>VNE</a:t>
            </a:r>
            <a:r>
              <a:rPr lang="ja-JP" altLang="en-US" b="1" dirty="0">
                <a:solidFill>
                  <a:srgbClr val="113160"/>
                </a:solidFill>
              </a:rPr>
              <a:t>）</a:t>
            </a:r>
            <a:r>
              <a:rPr kumimoji="1" lang="ja-JP" altLang="en-US" b="1" dirty="0">
                <a:solidFill>
                  <a:srgbClr val="113160"/>
                </a:solidFill>
              </a:rPr>
              <a:t>とは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130C6775-BC1F-F467-6CEA-2B03CC358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5242850" cy="3005136"/>
          </a:xfrm>
          <a:prstGeom prst="rect">
            <a:avLst/>
          </a:prstGeom>
        </p:spPr>
      </p:pic>
      <p:pic>
        <p:nvPicPr>
          <p:cNvPr id="10" name="コンテンツ プレースホルダー 4">
            <a:extLst>
              <a:ext uri="{FF2B5EF4-FFF2-40B4-BE49-F238E27FC236}">
                <a16:creationId xmlns:a16="http://schemas.microsoft.com/office/drawing/2014/main" id="{70B33377-3451-BCF8-76CF-7A74D79BB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926" y="1690688"/>
            <a:ext cx="4347002" cy="3005136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6B43BD15-AECD-DB1F-1EC1-72C2F0584FBD}"/>
              </a:ext>
            </a:extLst>
          </p:cNvPr>
          <p:cNvSpPr/>
          <p:nvPr/>
        </p:nvSpPr>
        <p:spPr>
          <a:xfrm>
            <a:off x="5544152" y="2846746"/>
            <a:ext cx="1405000" cy="693019"/>
          </a:xfrm>
          <a:prstGeom prst="rightArrow">
            <a:avLst/>
          </a:prstGeom>
          <a:solidFill>
            <a:srgbClr val="0F7C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F7C86"/>
              </a:solidFill>
              <a:highlight>
                <a:srgbClr val="008000"/>
              </a:highlight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F3FDBF-64BF-2C77-9AA0-44FE370255FF}"/>
              </a:ext>
            </a:extLst>
          </p:cNvPr>
          <p:cNvSpPr txBox="1"/>
          <p:nvPr/>
        </p:nvSpPr>
        <p:spPr>
          <a:xfrm>
            <a:off x="477911" y="4873731"/>
            <a:ext cx="5242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0B3E8D"/>
                </a:solidFill>
              </a:rPr>
              <a:t>埋め込み前：</a:t>
            </a:r>
            <a:r>
              <a:rPr kumimoji="1" lang="en-US" altLang="ja-JP" sz="2000" dirty="0">
                <a:solidFill>
                  <a:srgbClr val="0B3E8D"/>
                </a:solidFill>
              </a:rPr>
              <a:t>VN</a:t>
            </a:r>
            <a:r>
              <a:rPr kumimoji="1" lang="ja-JP" altLang="en-US" sz="2000" dirty="0">
                <a:solidFill>
                  <a:srgbClr val="0B3E8D"/>
                </a:solidFill>
              </a:rPr>
              <a:t>要求と物理ネットワーク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CC6FC94-995F-15BA-0B48-B6B01E3D169F}"/>
              </a:ext>
            </a:extLst>
          </p:cNvPr>
          <p:cNvSpPr txBox="1"/>
          <p:nvPr/>
        </p:nvSpPr>
        <p:spPr>
          <a:xfrm>
            <a:off x="7277727" y="4904509"/>
            <a:ext cx="4164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0B3E8D"/>
                </a:solidFill>
              </a:rPr>
              <a:t>埋め込み後：物理資源へ割り当て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703DA41-E463-0971-E551-B19E443C9449}"/>
              </a:ext>
            </a:extLst>
          </p:cNvPr>
          <p:cNvSpPr txBox="1"/>
          <p:nvPr/>
        </p:nvSpPr>
        <p:spPr>
          <a:xfrm>
            <a:off x="591127" y="5569527"/>
            <a:ext cx="967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仮想ノードは</a:t>
            </a:r>
            <a:r>
              <a:rPr kumimoji="1" lang="en-US" altLang="ja-JP" dirty="0"/>
              <a:t>CPU</a:t>
            </a:r>
            <a:r>
              <a:rPr kumimoji="1" lang="ja-JP" altLang="en-US" dirty="0"/>
              <a:t>需要，仮想リンクは帯域幅需要を持つ。</a:t>
            </a:r>
          </a:p>
          <a:p>
            <a:r>
              <a:rPr kumimoji="1" lang="ja-JP" altLang="en-US" dirty="0"/>
              <a:t>需要を満たす物理ノード・物理リンクへ割り当てられれば受理，できなければ棄却。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B476B1-3DD4-17F7-488C-C438E3962B03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7B4FBF-7923-06BB-9748-0C89EB9AAB3F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57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0142C-0CFD-8DB8-9C4F-4DBDF7E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924" y="365126"/>
            <a:ext cx="3549073" cy="1325563"/>
          </a:xfrm>
        </p:spPr>
        <p:txBody>
          <a:bodyPr/>
          <a:lstStyle/>
          <a:p>
            <a:r>
              <a:rPr lang="ja-JP" altLang="ja-JP" b="1" dirty="0">
                <a:solidFill>
                  <a:srgbClr val="113160"/>
                </a:solidFill>
              </a:rPr>
              <a:t>比較対象手法</a:t>
            </a:r>
            <a:endParaRPr kumimoji="1" lang="ja-JP" altLang="en-US" b="1" dirty="0">
              <a:solidFill>
                <a:srgbClr val="113160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23BDE8-DDD5-8621-C4D5-89EC49AAE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4113" y="1665799"/>
            <a:ext cx="2800942" cy="498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ja-JP" sz="4000" dirty="0">
                <a:solidFill>
                  <a:srgbClr val="0B3E8D"/>
                </a:solidFill>
              </a:rPr>
              <a:t>二ノ宮手法</a:t>
            </a:r>
            <a:endParaRPr kumimoji="1" lang="ja-JP" altLang="en-US" sz="4000" dirty="0">
              <a:solidFill>
                <a:srgbClr val="0B3E8D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020C86-68C6-2E0B-98C5-1071A2BE865E}"/>
              </a:ext>
            </a:extLst>
          </p:cNvPr>
          <p:cNvSpPr txBox="1"/>
          <p:nvPr/>
        </p:nvSpPr>
        <p:spPr>
          <a:xfrm>
            <a:off x="600364" y="2346036"/>
            <a:ext cx="54956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帯域幅需要を満たす物理リンクを抽出</a:t>
            </a:r>
            <a:endParaRPr kumimoji="1" lang="en-US" altLang="ja-JP" sz="2400" dirty="0"/>
          </a:p>
          <a:p>
            <a:endParaRPr kumimoji="1" lang="ja-JP" altLang="en-US" sz="2400" dirty="0"/>
          </a:p>
          <a:p>
            <a:r>
              <a:rPr kumimoji="1" lang="ja-JP" altLang="en-US" sz="2400" dirty="0"/>
              <a:t>その端点を仮想ノードの割当候補にする</a:t>
            </a:r>
          </a:p>
          <a:p>
            <a:r>
              <a:rPr kumimoji="1" lang="ja-JP" altLang="en-US" sz="2400" dirty="0"/>
              <a:t>候補の中から</a:t>
            </a:r>
            <a:r>
              <a:rPr kumimoji="1" lang="en-US" altLang="ja-JP" sz="2400" dirty="0"/>
              <a:t>CPU</a:t>
            </a:r>
            <a:r>
              <a:rPr kumimoji="1" lang="ja-JP" altLang="en-US" sz="2400" dirty="0"/>
              <a:t>資源が最大の物理ノードを選ぶ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5E510F-9912-3305-6274-8D231B5EEC0F}"/>
              </a:ext>
            </a:extLst>
          </p:cNvPr>
          <p:cNvSpPr txBox="1"/>
          <p:nvPr/>
        </p:nvSpPr>
        <p:spPr>
          <a:xfrm>
            <a:off x="6483928" y="2346036"/>
            <a:ext cx="51077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CPU</a:t>
            </a:r>
            <a:r>
              <a:rPr kumimoji="1" lang="ja-JP" altLang="en-US" sz="2400" dirty="0"/>
              <a:t>需要を満たす物理ノードを候補にする</a:t>
            </a:r>
          </a:p>
          <a:p>
            <a:r>
              <a:rPr kumimoji="1" lang="ja-JP" altLang="en-US" sz="2400" dirty="0"/>
              <a:t>接続する物理リンクの残余帯域合計を評価</a:t>
            </a:r>
          </a:p>
          <a:p>
            <a:r>
              <a:rPr kumimoji="1" lang="ja-JP" altLang="en-US" sz="2400" dirty="0"/>
              <a:t>残余帯域合計が最大の物理ノードを選ぶ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0837FF-28C0-BFBA-2CCF-94C44D3EC9AA}"/>
              </a:ext>
            </a:extLst>
          </p:cNvPr>
          <p:cNvSpPr txBox="1"/>
          <p:nvPr/>
        </p:nvSpPr>
        <p:spPr>
          <a:xfrm>
            <a:off x="7656947" y="1664420"/>
            <a:ext cx="28009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B3E8D"/>
                </a:solidFill>
              </a:rPr>
              <a:t>寺手手法</a:t>
            </a:r>
            <a:endParaRPr kumimoji="1" lang="ja-JP" altLang="en-US" sz="4000" dirty="0">
              <a:solidFill>
                <a:srgbClr val="0B3E8D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26488D-CA14-D5E6-7DDD-0A6803DE573F}"/>
              </a:ext>
            </a:extLst>
          </p:cNvPr>
          <p:cNvSpPr txBox="1"/>
          <p:nvPr/>
        </p:nvSpPr>
        <p:spPr>
          <a:xfrm>
            <a:off x="711199" y="5309707"/>
            <a:ext cx="87653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共通点：仮想リンクはダイクストラ法で割り当てる。</a:t>
            </a:r>
            <a:endParaRPr lang="en-US" altLang="ja-JP" sz="2400" dirty="0"/>
          </a:p>
          <a:p>
            <a:r>
              <a:rPr lang="ja-JP" altLang="en-US" sz="2400" dirty="0"/>
              <a:t>相違点：仮想ノードの割り当て方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CC22AD-4C47-F521-E051-89DD30170E5C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09C692A-B402-36BF-1644-4419082BC285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CD1E7D5-2996-6104-5B12-1E43F7A6613B}"/>
              </a:ext>
            </a:extLst>
          </p:cNvPr>
          <p:cNvSpPr/>
          <p:nvPr/>
        </p:nvSpPr>
        <p:spPr>
          <a:xfrm>
            <a:off x="5648037" y="2398197"/>
            <a:ext cx="3635676" cy="1295190"/>
          </a:xfrm>
          <a:prstGeom prst="rect">
            <a:avLst/>
          </a:prstGeom>
          <a:solidFill>
            <a:srgbClr val="F17C1D">
              <a:alpha val="1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F7C86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FB273D9-714B-C717-1817-496B0933A0BB}"/>
              </a:ext>
            </a:extLst>
          </p:cNvPr>
          <p:cNvSpPr/>
          <p:nvPr/>
        </p:nvSpPr>
        <p:spPr>
          <a:xfrm>
            <a:off x="275924" y="3267788"/>
            <a:ext cx="3971734" cy="851199"/>
          </a:xfrm>
          <a:prstGeom prst="rect">
            <a:avLst/>
          </a:prstGeom>
          <a:solidFill>
            <a:srgbClr val="A1EDF5">
              <a:alpha val="1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F7C86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F4F3064-974A-A855-3E0C-A144E963FDED}"/>
              </a:ext>
            </a:extLst>
          </p:cNvPr>
          <p:cNvSpPr/>
          <p:nvPr/>
        </p:nvSpPr>
        <p:spPr>
          <a:xfrm>
            <a:off x="279313" y="1833758"/>
            <a:ext cx="4001803" cy="851199"/>
          </a:xfrm>
          <a:prstGeom prst="rect">
            <a:avLst/>
          </a:prstGeom>
          <a:solidFill>
            <a:srgbClr val="A1EDF5">
              <a:alpha val="1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F7C8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DAF6DD2-B499-9649-D0A1-E7EA3816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93" y="381444"/>
            <a:ext cx="2052782" cy="1325563"/>
          </a:xfrm>
        </p:spPr>
        <p:txBody>
          <a:bodyPr/>
          <a:lstStyle/>
          <a:p>
            <a:r>
              <a:rPr lang="ja-JP" altLang="ja-JP" b="1" dirty="0">
                <a:solidFill>
                  <a:srgbClr val="113160"/>
                </a:solidFill>
              </a:rPr>
              <a:t>ALEVIN</a:t>
            </a:r>
            <a:endParaRPr kumimoji="1" lang="ja-JP" altLang="en-US" b="1" dirty="0">
              <a:solidFill>
                <a:srgbClr val="113160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4AB1D9-871E-75F6-78A7-656C18620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74" y="2065048"/>
            <a:ext cx="4185277" cy="622011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dirty="0">
                <a:solidFill>
                  <a:srgbClr val="08464C"/>
                </a:solidFill>
              </a:rPr>
              <a:t>二ノ宮ノードマッピング</a:t>
            </a:r>
            <a:endParaRPr kumimoji="1" lang="ja-JP" altLang="en-US" b="1" dirty="0">
              <a:solidFill>
                <a:srgbClr val="08464C"/>
              </a:solidFill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4718A3A-F332-3540-BA89-2EF1D66479F2}"/>
              </a:ext>
            </a:extLst>
          </p:cNvPr>
          <p:cNvSpPr txBox="1">
            <a:spLocks/>
          </p:cNvSpPr>
          <p:nvPr/>
        </p:nvSpPr>
        <p:spPr>
          <a:xfrm>
            <a:off x="370413" y="3478356"/>
            <a:ext cx="4204855" cy="622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b="1" dirty="0">
                <a:solidFill>
                  <a:srgbClr val="08464C"/>
                </a:solidFill>
              </a:rPr>
              <a:t>寺手</a:t>
            </a:r>
            <a:r>
              <a:rPr lang="ja-JP" altLang="ja-JP" b="1" dirty="0">
                <a:solidFill>
                  <a:srgbClr val="08464C"/>
                </a:solidFill>
              </a:rPr>
              <a:t>ノードマッピング</a:t>
            </a:r>
            <a:endParaRPr lang="ja-JP" altLang="en-US" b="1" dirty="0">
              <a:solidFill>
                <a:srgbClr val="08464C"/>
              </a:solidFill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A1ABD741-866B-C9E7-F07C-1419F32D50BD}"/>
              </a:ext>
            </a:extLst>
          </p:cNvPr>
          <p:cNvSpPr txBox="1">
            <a:spLocks/>
          </p:cNvSpPr>
          <p:nvPr/>
        </p:nvSpPr>
        <p:spPr>
          <a:xfrm>
            <a:off x="5648037" y="2577262"/>
            <a:ext cx="3840018" cy="1150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b="1" dirty="0">
                <a:solidFill>
                  <a:srgbClr val="08464C"/>
                </a:solidFill>
              </a:rPr>
              <a:t>共通リンク</a:t>
            </a:r>
            <a:r>
              <a:rPr lang="ja-JP" altLang="ja-JP" b="1" dirty="0">
                <a:solidFill>
                  <a:srgbClr val="08464C"/>
                </a:solidFill>
              </a:rPr>
              <a:t>マッピング</a:t>
            </a:r>
            <a:endParaRPr lang="en-US" altLang="ja-JP" b="1" dirty="0">
              <a:solidFill>
                <a:srgbClr val="08464C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b="1" dirty="0">
                <a:solidFill>
                  <a:srgbClr val="08464C"/>
                </a:solidFill>
              </a:rPr>
              <a:t>（ダイクストラ法）</a:t>
            </a:r>
            <a:endParaRPr lang="en-US" altLang="ja-JP" b="1" dirty="0">
              <a:solidFill>
                <a:srgbClr val="08464C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B75EA7B-1E60-92C4-F782-13FADD1B4676}"/>
              </a:ext>
            </a:extLst>
          </p:cNvPr>
          <p:cNvSpPr txBox="1"/>
          <p:nvPr/>
        </p:nvSpPr>
        <p:spPr>
          <a:xfrm>
            <a:off x="10641445" y="2929892"/>
            <a:ext cx="125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>
                <a:solidFill>
                  <a:srgbClr val="08464C"/>
                </a:solidFill>
              </a:rPr>
              <a:t>評価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DAAA40C4-C4DC-9E46-0466-8E69F7927D2E}"/>
              </a:ext>
            </a:extLst>
          </p:cNvPr>
          <p:cNvSpPr/>
          <p:nvPr/>
        </p:nvSpPr>
        <p:spPr>
          <a:xfrm>
            <a:off x="4420818" y="2012988"/>
            <a:ext cx="1158008" cy="539390"/>
          </a:xfrm>
          <a:prstGeom prst="rightArrow">
            <a:avLst/>
          </a:prstGeom>
          <a:solidFill>
            <a:srgbClr val="0F7C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8C35A99F-E09D-C5EA-445D-02B12189849F}"/>
              </a:ext>
            </a:extLst>
          </p:cNvPr>
          <p:cNvSpPr/>
          <p:nvPr/>
        </p:nvSpPr>
        <p:spPr>
          <a:xfrm>
            <a:off x="9615056" y="2983363"/>
            <a:ext cx="812798" cy="445637"/>
          </a:xfrm>
          <a:prstGeom prst="rightArrow">
            <a:avLst/>
          </a:prstGeom>
          <a:solidFill>
            <a:srgbClr val="0F7C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79F461A-8472-B9EA-E4B1-379797DA2EE8}"/>
              </a:ext>
            </a:extLst>
          </p:cNvPr>
          <p:cNvSpPr txBox="1"/>
          <p:nvPr/>
        </p:nvSpPr>
        <p:spPr>
          <a:xfrm>
            <a:off x="479136" y="5045070"/>
            <a:ext cx="11154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2</a:t>
            </a:r>
            <a:r>
              <a:rPr kumimoji="1" lang="ja-JP" altLang="en-US" sz="2400" dirty="0"/>
              <a:t>手法を</a:t>
            </a:r>
            <a:r>
              <a:rPr kumimoji="1" lang="en-US" altLang="ja-JP" sz="2400" dirty="0"/>
              <a:t>ALEVIN</a:t>
            </a:r>
            <a:r>
              <a:rPr kumimoji="1" lang="ja-JP" altLang="en-US" sz="2400" dirty="0"/>
              <a:t>上で動作するノードマッピングとして実装</a:t>
            </a:r>
          </a:p>
          <a:p>
            <a:r>
              <a:rPr kumimoji="1" lang="ja-JP" altLang="en-US" sz="2400" dirty="0"/>
              <a:t>リンクマッピングを統一し，ノード選択方法の違いを比較</a:t>
            </a:r>
          </a:p>
          <a:p>
            <a:endParaRPr kumimoji="1" lang="ja-JP" altLang="en-US" sz="24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8E800B2-DBBC-7EF7-A406-CC47137826ED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88E8D04-3295-4565-829F-15F1BF0C27B9}"/>
              </a:ext>
            </a:extLst>
          </p:cNvPr>
          <p:cNvSpPr/>
          <p:nvPr/>
        </p:nvSpPr>
        <p:spPr>
          <a:xfrm>
            <a:off x="10587330" y="2812928"/>
            <a:ext cx="1256146" cy="851199"/>
          </a:xfrm>
          <a:prstGeom prst="rect">
            <a:avLst/>
          </a:prstGeom>
          <a:solidFill>
            <a:srgbClr val="A1EDF5">
              <a:alpha val="1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0F7C86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C26C93-3A7F-D1AA-90B6-F3BEEE2DFE17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9E43B8F-CCCE-CCB0-9EC8-948B6AE93DD4}"/>
              </a:ext>
            </a:extLst>
          </p:cNvPr>
          <p:cNvSpPr/>
          <p:nvPr/>
        </p:nvSpPr>
        <p:spPr>
          <a:xfrm>
            <a:off x="4419062" y="3499298"/>
            <a:ext cx="1158008" cy="539390"/>
          </a:xfrm>
          <a:prstGeom prst="rightArrow">
            <a:avLst/>
          </a:prstGeom>
          <a:solidFill>
            <a:srgbClr val="0F7C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390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604F-A9D4-557E-71DE-38173325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683F31-F15D-9583-EB20-1A337E73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93" y="381444"/>
            <a:ext cx="2052782" cy="1325563"/>
          </a:xfrm>
        </p:spPr>
        <p:txBody>
          <a:bodyPr/>
          <a:lstStyle/>
          <a:p>
            <a:r>
              <a:rPr lang="ja-JP" altLang="ja-JP" b="1" dirty="0">
                <a:solidFill>
                  <a:srgbClr val="113160"/>
                </a:solidFill>
              </a:rPr>
              <a:t>ALEVIN</a:t>
            </a:r>
            <a:endParaRPr kumimoji="1" lang="ja-JP" altLang="en-US" b="1" dirty="0">
              <a:solidFill>
                <a:srgbClr val="11316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3D8B7E9-F24D-0974-7C4F-3A365678FA67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3AD0365-4AB9-E006-5B3C-644829D56F8F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5" name="コンテンツ プレースホルダー 14">
            <a:extLst>
              <a:ext uri="{FF2B5EF4-FFF2-40B4-BE49-F238E27FC236}">
                <a16:creationId xmlns:a16="http://schemas.microsoft.com/office/drawing/2014/main" id="{6E5AE61C-01B2-90BB-6105-109982A05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593" y="1603952"/>
            <a:ext cx="2272243" cy="436663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/>
              <a:t>実際の動画</a:t>
            </a:r>
          </a:p>
        </p:txBody>
      </p:sp>
    </p:spTree>
    <p:extLst>
      <p:ext uri="{BB962C8B-B14F-4D97-AF65-F5344CB8AC3E}">
        <p14:creationId xmlns:p14="http://schemas.microsoft.com/office/powerpoint/2010/main" val="373831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6A8EF-8804-146A-B477-4D0FF14B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924" y="344137"/>
            <a:ext cx="10515600" cy="1325563"/>
          </a:xfrm>
        </p:spPr>
        <p:txBody>
          <a:bodyPr/>
          <a:lstStyle/>
          <a:p>
            <a:r>
              <a:rPr lang="ja-JP" altLang="ja-JP" b="1" dirty="0">
                <a:solidFill>
                  <a:srgbClr val="113160"/>
                </a:solidFill>
              </a:rPr>
              <a:t>実験条件</a:t>
            </a:r>
            <a:endParaRPr kumimoji="1" lang="ja-JP" altLang="en-US" b="1" dirty="0">
              <a:solidFill>
                <a:srgbClr val="113160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21B6F5-E7A5-BD20-1F32-5474DB2F6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08" y="2380242"/>
            <a:ext cx="9404927" cy="3531466"/>
          </a:xfrm>
        </p:spPr>
        <p:txBody>
          <a:bodyPr>
            <a:normAutofit/>
          </a:bodyPr>
          <a:lstStyle/>
          <a:p>
            <a:pPr lvl="0"/>
            <a:r>
              <a:rPr lang="ja-JP" altLang="ja-JP" dirty="0"/>
              <a:t>物理ノード数：40、60、80 </a:t>
            </a:r>
          </a:p>
          <a:p>
            <a:pPr lvl="0"/>
            <a:r>
              <a:rPr lang="ja-JP" altLang="ja-JP" dirty="0"/>
              <a:t>VN要求：10個</a:t>
            </a:r>
            <a:endParaRPr lang="en-US" altLang="ja-JP" dirty="0"/>
          </a:p>
          <a:p>
            <a:pPr lvl="0"/>
            <a:r>
              <a:rPr lang="en-US" altLang="ja-JP" dirty="0"/>
              <a:t>VN</a:t>
            </a:r>
            <a:r>
              <a:rPr lang="ja-JP" altLang="en-US" dirty="0"/>
              <a:t>要求総ノード数：２０</a:t>
            </a:r>
            <a:r>
              <a:rPr lang="ja-JP" altLang="ja-JP" dirty="0"/>
              <a:t>、</a:t>
            </a:r>
            <a:r>
              <a:rPr lang="ja-JP" altLang="en-US" dirty="0"/>
              <a:t>３０</a:t>
            </a:r>
            <a:r>
              <a:rPr lang="ja-JP" altLang="ja-JP" dirty="0"/>
              <a:t>、</a:t>
            </a:r>
            <a:r>
              <a:rPr lang="ja-JP" altLang="en-US" dirty="0"/>
              <a:t>４０</a:t>
            </a:r>
            <a:r>
              <a:rPr lang="ja-JP" altLang="ja-JP" dirty="0"/>
              <a:t> </a:t>
            </a:r>
          </a:p>
          <a:p>
            <a:pPr lvl="0"/>
            <a:r>
              <a:rPr lang="ja-JP" altLang="ja-JP" dirty="0"/>
              <a:t>需要条件：3種類 </a:t>
            </a:r>
          </a:p>
          <a:p>
            <a:pPr lvl="0"/>
            <a:r>
              <a:rPr lang="ja-JP" altLang="ja-JP" dirty="0"/>
              <a:t>合計9シナリオ 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17BA97-CD2C-16E2-92B7-77FF021414E1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BB45389-A394-BBF1-4CA2-881264FD375D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8604A6-A644-2B16-92F4-2DA69B3DD93D}"/>
              </a:ext>
            </a:extLst>
          </p:cNvPr>
          <p:cNvSpPr txBox="1"/>
          <p:nvPr/>
        </p:nvSpPr>
        <p:spPr>
          <a:xfrm>
            <a:off x="1209964" y="1625570"/>
            <a:ext cx="24291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4000" b="1" dirty="0">
                <a:solidFill>
                  <a:srgbClr val="0B3E8D"/>
                </a:solidFill>
              </a:rPr>
              <a:t>実験条件</a:t>
            </a:r>
          </a:p>
          <a:p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6909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38639C-A3F6-6D09-9DB0-1E977F1A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93" y="344137"/>
            <a:ext cx="10515600" cy="1325563"/>
          </a:xfrm>
        </p:spPr>
        <p:txBody>
          <a:bodyPr/>
          <a:lstStyle/>
          <a:p>
            <a:r>
              <a:rPr lang="ja-JP" altLang="en-US" b="1" dirty="0">
                <a:solidFill>
                  <a:srgbClr val="113160"/>
                </a:solidFill>
              </a:rPr>
              <a:t>評価方法</a:t>
            </a:r>
            <a:endParaRPr kumimoji="1" lang="ja-JP" altLang="en-US" b="1" dirty="0">
              <a:solidFill>
                <a:srgbClr val="11316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D97642-4C1E-1575-C776-ED5252F3EB8E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E5674B-9FAC-01B3-9BA9-D81865C4DBB5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7CDBBF-B387-3BCD-2130-2D31BDFB385B}"/>
              </a:ext>
            </a:extLst>
          </p:cNvPr>
          <p:cNvSpPr txBox="1"/>
          <p:nvPr/>
        </p:nvSpPr>
        <p:spPr>
          <a:xfrm>
            <a:off x="122643" y="1644869"/>
            <a:ext cx="4119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ja-JP" altLang="ja-JP" sz="2800" dirty="0">
                <a:solidFill>
                  <a:srgbClr val="0B3E8D"/>
                </a:solidFill>
              </a:rPr>
              <a:t>AcceptedVnrRatio</a:t>
            </a:r>
            <a:r>
              <a:rPr lang="ja-JP" altLang="ja-JP" sz="2800" dirty="0">
                <a:solidFill>
                  <a:srgbClr val="156082"/>
                </a:solidFill>
              </a:rPr>
              <a:t> 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2A7571F-96F0-323E-A3EF-2B349ACF2B7B}"/>
              </a:ext>
            </a:extLst>
          </p:cNvPr>
          <p:cNvSpPr txBox="1"/>
          <p:nvPr/>
        </p:nvSpPr>
        <p:spPr>
          <a:xfrm>
            <a:off x="574255" y="5371006"/>
            <a:ext cx="2385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ja-JP" altLang="ja-JP" sz="2800" dirty="0">
                <a:solidFill>
                  <a:srgbClr val="0B3E8D"/>
                </a:solidFill>
              </a:rPr>
              <a:t>実行時間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531F898-BD99-8044-375B-5C7703697D4C}"/>
                  </a:ext>
                </a:extLst>
              </p:cNvPr>
              <p:cNvSpPr txBox="1"/>
              <p:nvPr/>
            </p:nvSpPr>
            <p:spPr>
              <a:xfrm>
                <a:off x="1029854" y="2286414"/>
                <a:ext cx="105156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ja-JP" dirty="0"/>
                  <a:t>受理した</a:t>
                </a:r>
                <a:r>
                  <a:rPr lang="en-US" altLang="ja-JP" dirty="0"/>
                  <a:t>VN</a:t>
                </a:r>
                <a:r>
                  <a:rPr lang="ja-JP" altLang="en-US" dirty="0"/>
                  <a:t>要求の割合。受理した</a:t>
                </a:r>
                <a:r>
                  <a:rPr lang="en-US" altLang="ja-JP" dirty="0"/>
                  <a:t>VN</a:t>
                </a:r>
                <a:r>
                  <a:rPr lang="ja-JP" altLang="en-US" dirty="0"/>
                  <a:t>要求数を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ja-JP" altLang="en-US" i="1">
                            <a:latin typeface="Cambria Math" panose="02040503050406030204" pitchFamily="18" charset="0"/>
                          </a:rPr>
                          <m:t>acc</m:t>
                        </m:r>
                      </m:sub>
                    </m:sSub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、</m:t>
                    </m:r>
                  </m:oMath>
                </a14:m>
                <a:r>
                  <a:rPr lang="ja-JP" altLang="en-US" dirty="0"/>
                  <a:t>全</a:t>
                </a:r>
                <a:r>
                  <a:rPr lang="en-US" altLang="ja-JP" dirty="0"/>
                  <a:t>VN</a:t>
                </a:r>
                <a:r>
                  <a:rPr lang="ja-JP" altLang="en-US" dirty="0"/>
                  <a:t>要求数を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ja-JP" altLang="en-US" i="1">
                            <a:latin typeface="Cambria Math" panose="02040503050406030204" pitchFamily="18" charset="0"/>
                          </a:rPr>
                          <m:t>all</m:t>
                        </m:r>
                      </m:sub>
                    </m:sSub>
                  </m:oMath>
                </a14:m>
                <a:r>
                  <a:rPr lang="ja-JP" altLang="en-US" dirty="0"/>
                  <a:t>とする、</a:t>
                </a:r>
                <a:r>
                  <a:rPr lang="ja-JP" altLang="ja-JP" dirty="0"/>
                  <a:t>AcceptedVnrRatio を次式で表す</a:t>
                </a:r>
                <a:r>
                  <a:rPr lang="ja-JP" altLang="en-US" dirty="0"/>
                  <a:t>。</a:t>
                </a:r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531F898-BD99-8044-375B-5C7703697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4" y="2286414"/>
                <a:ext cx="10515600" cy="923330"/>
              </a:xfrm>
              <a:prstGeom prst="rect">
                <a:avLst/>
              </a:prstGeom>
              <a:blipFill>
                <a:blip r:embed="rId2"/>
                <a:stretch>
                  <a:fillRect l="-522" t="-2632" r="-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5390985-3299-8CAC-6E0B-5258B61D2716}"/>
                  </a:ext>
                </a:extLst>
              </p:cNvPr>
              <p:cNvSpPr txBox="1"/>
              <p:nvPr/>
            </p:nvSpPr>
            <p:spPr>
              <a:xfrm>
                <a:off x="1029854" y="3771271"/>
                <a:ext cx="9075103" cy="12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ja-JP" dirty="0"/>
                  <a:t>物理資源の利用効率</a:t>
                </a:r>
                <a:r>
                  <a:rPr lang="ja-JP" altLang="en-US" dirty="0"/>
                  <a:t>。小さいほど効率である。</a:t>
                </a:r>
                <a:r>
                  <a:rPr lang="ja-JP" altLang="ja-JP" dirty="0"/>
                  <a:t>消費した物理資源量 ÷ 受理した需要量</a:t>
                </a:r>
                <a:r>
                  <a:rPr lang="ja-JP" altLang="en-US" dirty="0"/>
                  <a:t>。</a:t>
                </a:r>
                <a:endParaRPr lang="en-US" altLang="ja-JP" dirty="0"/>
              </a:p>
              <a:p>
                <a:r>
                  <a:rPr lang="ja-JP" altLang="en-US" dirty="0"/>
                  <a:t>　受理した</a:t>
                </a:r>
                <a:r>
                  <a:rPr lang="en-US" altLang="ja-JP" dirty="0"/>
                  <a:t>VN</a:t>
                </a:r>
                <a:r>
                  <a:rPr lang="ja-JP" altLang="en-US" dirty="0"/>
                  <a:t>要求に含まれる仮想ノードの</a:t>
                </a:r>
                <a:r>
                  <a:rPr lang="en-US" altLang="ja-JP" dirty="0"/>
                  <a:t>CPU</a:t>
                </a:r>
                <a:r>
                  <a:rPr lang="ja-JP" altLang="en-US" dirty="0"/>
                  <a:t>需要を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ja-JP" i="0" dirty="0">
                            <a:latin typeface="Cambria Math" panose="02040503050406030204" pitchFamily="18" charset="0"/>
                          </a:rPr>
                          <m:t>CPU</m:t>
                        </m:r>
                      </m:sup>
                    </m:sSubSup>
                  </m:oMath>
                </a14:m>
                <a:r>
                  <a:rPr lang="ja-JP" altLang="en-US" dirty="0"/>
                  <a:t>，仮想リンクの帯域幅需要を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ja-JP" i="0" dirty="0">
                            <a:latin typeface="Cambria Math" panose="02040503050406030204" pitchFamily="18" charset="0"/>
                          </a:rPr>
                          <m:t>BW</m:t>
                        </m:r>
                      </m:sup>
                    </m:sSubSup>
                  </m:oMath>
                </a14:m>
                <a:r>
                  <a:rPr lang="ja-JP" altLang="en-US" dirty="0"/>
                  <a:t>、物理ノードで消費した</a:t>
                </a:r>
                <a:r>
                  <a:rPr lang="en-US" altLang="ja-JP" dirty="0"/>
                  <a:t>CPU</a:t>
                </a:r>
                <a:r>
                  <a:rPr lang="ja-JP" altLang="en-US" dirty="0"/>
                  <a:t>資源を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ja-JP" i="0" dirty="0">
                            <a:latin typeface="Cambria Math" panose="02040503050406030204" pitchFamily="18" charset="0"/>
                          </a:rPr>
                          <m:t>CPU</m:t>
                        </m:r>
                      </m:sup>
                    </m:sSubSup>
                  </m:oMath>
                </a14:m>
                <a:r>
                  <a:rPr lang="ja-JP" altLang="en-US" dirty="0"/>
                  <a:t>，物理リンクで消費した帯域幅資源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ja-JP" i="0" dirty="0" smtClean="0">
                            <a:latin typeface="Cambria Math" panose="02040503050406030204" pitchFamily="18" charset="0"/>
                          </a:rPr>
                          <m:t>BW</m:t>
                        </m:r>
                      </m:sup>
                    </m:sSubSup>
                  </m:oMath>
                </a14:m>
                <a:r>
                  <a:rPr lang="ja-JP" altLang="en-US" dirty="0"/>
                  <a:t>とすると、</a:t>
                </a:r>
                <a:r>
                  <a:rPr lang="ja-JP" altLang="ja-JP" dirty="0"/>
                  <a:t>CostRevenue を次式で表す</a:t>
                </a:r>
                <a:r>
                  <a:rPr lang="ja-JP" altLang="en-US" dirty="0"/>
                  <a:t>。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5390985-3299-8CAC-6E0B-5258B61D2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54" y="3771271"/>
                <a:ext cx="9075103" cy="1277850"/>
              </a:xfrm>
              <a:prstGeom prst="rect">
                <a:avLst/>
              </a:prstGeom>
              <a:blipFill>
                <a:blip r:embed="rId3"/>
                <a:stretch>
                  <a:fillRect l="-604" t="-2871" r="-2149" b="-71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E3B385D-C1F6-F5A6-D477-2362D27AA999}"/>
              </a:ext>
            </a:extLst>
          </p:cNvPr>
          <p:cNvSpPr txBox="1"/>
          <p:nvPr/>
        </p:nvSpPr>
        <p:spPr>
          <a:xfrm>
            <a:off x="4451927" y="297410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20F7ECF-E87D-D4EE-08E8-557F160CA448}"/>
                  </a:ext>
                </a:extLst>
              </p:cNvPr>
              <p:cNvSpPr txBox="1"/>
              <p:nvPr/>
            </p:nvSpPr>
            <p:spPr>
              <a:xfrm>
                <a:off x="3823064" y="2642486"/>
                <a:ext cx="3230050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i="1" smtClean="0">
                          <a:latin typeface="Cambria Math" panose="02040503050406030204" pitchFamily="18" charset="0"/>
                        </a:rPr>
                        <m:t>AcceptedVnrRatio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acc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all</m:t>
                              </m:r>
                            </m:sub>
                          </m:sSub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20F7ECF-E87D-D4EE-08E8-557F160CA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064" y="2642486"/>
                <a:ext cx="3230050" cy="565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3CE86E0-52B3-917D-6182-8F9465D85F60}"/>
              </a:ext>
            </a:extLst>
          </p:cNvPr>
          <p:cNvSpPr txBox="1"/>
          <p:nvPr/>
        </p:nvSpPr>
        <p:spPr>
          <a:xfrm>
            <a:off x="574255" y="3251108"/>
            <a:ext cx="2888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 dirty="0">
                <a:solidFill>
                  <a:srgbClr val="0B3E8D"/>
                </a:solidFill>
              </a:rPr>
              <a:t>CostRevenue</a:t>
            </a:r>
            <a:endParaRPr kumimoji="1" lang="ja-JP" altLang="en-US" sz="2800" dirty="0">
              <a:solidFill>
                <a:srgbClr val="0B3E8D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5A304553-2A5C-C050-8E56-F10A3ED938E5}"/>
                  </a:ext>
                </a:extLst>
              </p:cNvPr>
              <p:cNvSpPr txBox="1"/>
              <p:nvPr/>
            </p:nvSpPr>
            <p:spPr>
              <a:xfrm>
                <a:off x="3866362" y="5128887"/>
                <a:ext cx="3402085" cy="6855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i="1" smtClean="0">
                          <a:latin typeface="Cambria Math" panose="02040503050406030204" pitchFamily="18" charset="0"/>
                        </a:rPr>
                        <m:t>CostRevenue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CPU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BW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CPU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BW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5A304553-2A5C-C050-8E56-F10A3ED93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362" y="5128887"/>
                <a:ext cx="3402085" cy="6855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C632A7B-9D86-B754-2019-A3660CE779D9}"/>
              </a:ext>
            </a:extLst>
          </p:cNvPr>
          <p:cNvSpPr txBox="1"/>
          <p:nvPr/>
        </p:nvSpPr>
        <p:spPr>
          <a:xfrm>
            <a:off x="1029854" y="5894226"/>
            <a:ext cx="2564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0000"/>
                </a:solidFill>
                <a:latin typeface="Yu Gothic"/>
              </a:rPr>
              <a:t>処理にかかった時間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5691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5325-F258-8DAA-7AE1-68E37C5F1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93" y="363043"/>
            <a:ext cx="10515600" cy="1325563"/>
          </a:xfrm>
        </p:spPr>
        <p:txBody>
          <a:bodyPr/>
          <a:lstStyle/>
          <a:p>
            <a:r>
              <a:rPr kumimoji="1" lang="ja-JP" altLang="en-US" b="1" dirty="0">
                <a:solidFill>
                  <a:srgbClr val="113160"/>
                </a:solidFill>
              </a:rPr>
              <a:t>実験結果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7B7BA58-E5AF-5419-FE09-282D543B5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0" y="1548176"/>
            <a:ext cx="3969351" cy="343945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81667C1-8FC3-5506-FC52-F4B170026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686" y="1548177"/>
            <a:ext cx="3921020" cy="355953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3641C3E-CE37-4FC5-B81C-58B8EBA11B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706" y="1548177"/>
            <a:ext cx="3904306" cy="355953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AC5F0C-90AF-EE86-4838-412D86F12836}"/>
              </a:ext>
            </a:extLst>
          </p:cNvPr>
          <p:cNvSpPr txBox="1"/>
          <p:nvPr/>
        </p:nvSpPr>
        <p:spPr>
          <a:xfrm>
            <a:off x="378593" y="4593018"/>
            <a:ext cx="374256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0B3E8D"/>
                </a:solidFill>
              </a:rPr>
              <a:t>受理率</a:t>
            </a:r>
            <a:br>
              <a:rPr kumimoji="1" lang="ja-JP" altLang="en-US" dirty="0"/>
            </a:br>
            <a:r>
              <a:rPr kumimoji="1" lang="ja-JP" altLang="en-US" sz="2000" dirty="0"/>
              <a:t>寺生：</a:t>
            </a:r>
            <a:r>
              <a:rPr kumimoji="1" lang="en-US" altLang="ja-JP" sz="2000" dirty="0"/>
              <a:t>9</a:t>
            </a:r>
            <a:r>
              <a:rPr kumimoji="1" lang="ja-JP" altLang="en-US" sz="2000" dirty="0"/>
              <a:t>条件中</a:t>
            </a:r>
            <a:r>
              <a:rPr kumimoji="1" lang="en-US" altLang="ja-JP" sz="2000" dirty="0"/>
              <a:t>6</a:t>
            </a:r>
            <a:r>
              <a:rPr kumimoji="1" lang="ja-JP" altLang="en-US" sz="2000" dirty="0"/>
              <a:t>条件で上回る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61AF19-53DE-13EB-8820-561CC927C812}"/>
              </a:ext>
            </a:extLst>
          </p:cNvPr>
          <p:cNvSpPr txBox="1"/>
          <p:nvPr/>
        </p:nvSpPr>
        <p:spPr>
          <a:xfrm>
            <a:off x="4429328" y="4593018"/>
            <a:ext cx="38119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 err="1">
                <a:solidFill>
                  <a:srgbClr val="0B3E8D"/>
                </a:solidFill>
              </a:rPr>
              <a:t>CostRevenue</a:t>
            </a:r>
            <a:br>
              <a:rPr kumimoji="1" lang="en-US" altLang="ja-JP" dirty="0"/>
            </a:br>
            <a:r>
              <a:rPr kumimoji="1" lang="ja-JP" altLang="en-US" sz="2000" dirty="0"/>
              <a:t>寺生：全条件で小さい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B40C13-B0E7-5469-DA5A-925F6F868E31}"/>
              </a:ext>
            </a:extLst>
          </p:cNvPr>
          <p:cNvSpPr txBox="1"/>
          <p:nvPr/>
        </p:nvSpPr>
        <p:spPr>
          <a:xfrm>
            <a:off x="8549412" y="4593018"/>
            <a:ext cx="34935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rgbClr val="0B3E8D"/>
                </a:solidFill>
              </a:rPr>
              <a:t>実行時間</a:t>
            </a:r>
            <a:br>
              <a:rPr kumimoji="1" lang="ja-JP" altLang="en-US" dirty="0"/>
            </a:br>
            <a:r>
              <a:rPr kumimoji="1" lang="ja-JP" altLang="en-US" sz="2000" dirty="0"/>
              <a:t>二ノ宮：全条件で短い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99A9C01-D470-293A-6FDD-9B539BA5044D}"/>
              </a:ext>
            </a:extLst>
          </p:cNvPr>
          <p:cNvSpPr txBox="1"/>
          <p:nvPr/>
        </p:nvSpPr>
        <p:spPr>
          <a:xfrm>
            <a:off x="353894" y="6026726"/>
            <a:ext cx="10532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err="1"/>
              <a:t>CostRevenue</a:t>
            </a:r>
            <a:r>
              <a:rPr lang="ja-JP" altLang="en-US" dirty="0"/>
              <a:t>が小さいほど，受理した需要量に対する物理資源消費が少ない</a:t>
            </a:r>
          </a:p>
          <a:p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149F582-D597-D3E8-1175-5592EA9646DE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654979D-057A-DE3E-60D9-DEB2F8BE7E0C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23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336596-5349-3D73-90D7-03B6763D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52" y="390935"/>
            <a:ext cx="10515600" cy="1325563"/>
          </a:xfrm>
        </p:spPr>
        <p:txBody>
          <a:bodyPr/>
          <a:lstStyle/>
          <a:p>
            <a:r>
              <a:rPr lang="ja-JP" altLang="ja-JP" b="1" dirty="0">
                <a:solidFill>
                  <a:srgbClr val="113160"/>
                </a:solidFill>
              </a:rPr>
              <a:t>考察・まとめ・今後の課題</a:t>
            </a:r>
            <a:endParaRPr kumimoji="1" lang="ja-JP" altLang="en-US" b="1" dirty="0">
              <a:solidFill>
                <a:srgbClr val="11316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06D041-2FA3-CD96-7A92-BC4D6A052436}"/>
              </a:ext>
            </a:extLst>
          </p:cNvPr>
          <p:cNvSpPr txBox="1"/>
          <p:nvPr/>
        </p:nvSpPr>
        <p:spPr>
          <a:xfrm>
            <a:off x="1041280" y="1691882"/>
            <a:ext cx="1756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0B3E8D"/>
                </a:solidFill>
              </a:rPr>
              <a:t>まとめ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C242F4-C2D1-990E-4666-7FC0CE3B5A3A}"/>
              </a:ext>
            </a:extLst>
          </p:cNvPr>
          <p:cNvSpPr txBox="1"/>
          <p:nvPr/>
        </p:nvSpPr>
        <p:spPr>
          <a:xfrm>
            <a:off x="-71349" y="2556179"/>
            <a:ext cx="396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ja-JP" altLang="en-US" dirty="0"/>
              <a:t>・</a:t>
            </a:r>
            <a:r>
              <a:rPr lang="ja-JP" altLang="ja-JP" dirty="0"/>
              <a:t>二ノ宮手法と寺生手法をALEVINへ実装し，同一条件で比較した </a:t>
            </a:r>
            <a:endParaRPr lang="en-US" altLang="ja-JP" dirty="0"/>
          </a:p>
          <a:p>
            <a:pPr lvl="0"/>
            <a:endParaRPr lang="ja-JP" altLang="ja-JP" dirty="0"/>
          </a:p>
          <a:p>
            <a:pPr lvl="0"/>
            <a:r>
              <a:rPr lang="ja-JP" altLang="en-US" dirty="0"/>
              <a:t>・</a:t>
            </a:r>
            <a:r>
              <a:rPr lang="ja-JP" altLang="ja-JP" dirty="0"/>
              <a:t>寺生手法は，受理率で9条件中6条件を上回り，CostRevenueは全条件で小さかった </a:t>
            </a:r>
            <a:endParaRPr lang="en-US" altLang="ja-JP" dirty="0"/>
          </a:p>
          <a:p>
            <a:pPr lvl="0"/>
            <a:endParaRPr lang="ja-JP" altLang="ja-JP" dirty="0"/>
          </a:p>
          <a:p>
            <a:pPr lvl="0"/>
            <a:r>
              <a:rPr lang="ja-JP" altLang="en-US" dirty="0"/>
              <a:t>・</a:t>
            </a:r>
            <a:r>
              <a:rPr lang="ja-JP" altLang="ja-JP" dirty="0"/>
              <a:t>二ノ宮手法は，全条件で実行時間が短かった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B5174A-6F8A-4976-74D2-E5AAB3A4B978}"/>
              </a:ext>
            </a:extLst>
          </p:cNvPr>
          <p:cNvSpPr txBox="1"/>
          <p:nvPr/>
        </p:nvSpPr>
        <p:spPr>
          <a:xfrm>
            <a:off x="8052942" y="1669133"/>
            <a:ext cx="3112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0B3E8D"/>
                </a:solidFill>
              </a:rPr>
              <a:t>今後の課題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D03134-1570-DFB2-B1F1-8E46D508DA49}"/>
              </a:ext>
            </a:extLst>
          </p:cNvPr>
          <p:cNvSpPr txBox="1"/>
          <p:nvPr/>
        </p:nvSpPr>
        <p:spPr>
          <a:xfrm>
            <a:off x="8051999" y="2393805"/>
            <a:ext cx="414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ja-JP" altLang="en-US" dirty="0"/>
              <a:t>・</a:t>
            </a:r>
            <a:r>
              <a:rPr lang="ja-JP" altLang="ja-JP" dirty="0"/>
              <a:t>仮想ノード数を固定し，</a:t>
            </a:r>
            <a:r>
              <a:rPr lang="ja-JP" altLang="en-US" dirty="0"/>
              <a:t>実験を行う</a:t>
            </a:r>
            <a:r>
              <a:rPr lang="ja-JP" altLang="ja-JP" dirty="0"/>
              <a:t>する </a:t>
            </a:r>
            <a:endParaRPr lang="en-US" altLang="ja-JP" dirty="0"/>
          </a:p>
          <a:p>
            <a:pPr lvl="0"/>
            <a:endParaRPr lang="ja-JP" altLang="ja-JP" dirty="0"/>
          </a:p>
          <a:p>
            <a:pPr lvl="0"/>
            <a:r>
              <a:rPr lang="ja-JP" altLang="en-US" dirty="0"/>
              <a:t>・</a:t>
            </a:r>
            <a:r>
              <a:rPr lang="ja-JP" altLang="ja-JP" dirty="0"/>
              <a:t>処理別の実行時間と棄却数を計測し，時間差の要因を</a:t>
            </a:r>
            <a:r>
              <a:rPr lang="ja-JP" altLang="en-US" dirty="0"/>
              <a:t>見つける</a:t>
            </a:r>
            <a:r>
              <a:rPr lang="ja-JP" altLang="ja-JP" dirty="0"/>
              <a:t> </a:t>
            </a:r>
            <a:endParaRPr lang="en-US" altLang="ja-JP" dirty="0"/>
          </a:p>
          <a:p>
            <a:pPr lvl="0"/>
            <a:endParaRPr lang="ja-JP" altLang="ja-JP" dirty="0"/>
          </a:p>
          <a:p>
            <a:pPr lvl="0"/>
            <a:r>
              <a:rPr lang="ja-JP" altLang="en-US" dirty="0"/>
              <a:t>・</a:t>
            </a:r>
            <a:r>
              <a:rPr lang="ja-JP" altLang="ja-JP" dirty="0"/>
              <a:t>有向グラフを無向グラフへ変更し，再評価する</a:t>
            </a:r>
          </a:p>
          <a:p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1AF9C5-11C0-1021-6391-B679FAEEB8CE}"/>
              </a:ext>
            </a:extLst>
          </p:cNvPr>
          <p:cNvSpPr/>
          <p:nvPr/>
        </p:nvSpPr>
        <p:spPr>
          <a:xfrm>
            <a:off x="173255" y="646545"/>
            <a:ext cx="102669" cy="7207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32992DD-7B59-F6E6-DC8E-8F246FE8ED0C}"/>
              </a:ext>
            </a:extLst>
          </p:cNvPr>
          <p:cNvSpPr/>
          <p:nvPr/>
        </p:nvSpPr>
        <p:spPr>
          <a:xfrm>
            <a:off x="275924" y="1302328"/>
            <a:ext cx="10889672" cy="649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314DC7-320D-5736-9B4A-1E34194109A5}"/>
              </a:ext>
            </a:extLst>
          </p:cNvPr>
          <p:cNvSpPr txBox="1"/>
          <p:nvPr/>
        </p:nvSpPr>
        <p:spPr>
          <a:xfrm>
            <a:off x="4842285" y="1722701"/>
            <a:ext cx="1756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0B3E8D"/>
                </a:solidFill>
              </a:rPr>
              <a:t>考察</a:t>
            </a:r>
            <a:endParaRPr kumimoji="1" lang="ja-JP" altLang="en-US" sz="4000" dirty="0">
              <a:solidFill>
                <a:srgbClr val="0B3E8D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85769F-C48B-8E3E-8FCE-5D5586C855ED}"/>
              </a:ext>
            </a:extLst>
          </p:cNvPr>
          <p:cNvSpPr txBox="1"/>
          <p:nvPr/>
        </p:nvSpPr>
        <p:spPr>
          <a:xfrm>
            <a:off x="3813748" y="2529000"/>
            <a:ext cx="414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ja-JP" altLang="en-US" dirty="0"/>
              <a:t>・</a:t>
            </a:r>
            <a:r>
              <a:rPr lang="ja-JP" altLang="ja-JP" dirty="0"/>
              <a:t>寺生手法は帯域を考慮するため，リンクマッピングに必要な帯域を確保しやすいと考えられる </a:t>
            </a:r>
            <a:endParaRPr lang="en-US" altLang="ja-JP" dirty="0"/>
          </a:p>
          <a:p>
            <a:pPr lvl="0"/>
            <a:endParaRPr lang="ja-JP" altLang="ja-JP" dirty="0"/>
          </a:p>
          <a:p>
            <a:pPr lvl="0"/>
            <a:r>
              <a:rPr lang="ja-JP" altLang="en-US" dirty="0"/>
              <a:t>・</a:t>
            </a:r>
            <a:r>
              <a:rPr lang="ja-JP" altLang="ja-JP" dirty="0"/>
              <a:t>二ノ宮手法は早期棄却により，後続処理を省略した可能性がある</a:t>
            </a:r>
          </a:p>
          <a:p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CB23A72-F00E-75E8-D077-CB102AB67713}"/>
              </a:ext>
            </a:extLst>
          </p:cNvPr>
          <p:cNvSpPr/>
          <p:nvPr/>
        </p:nvSpPr>
        <p:spPr>
          <a:xfrm>
            <a:off x="3797495" y="1663693"/>
            <a:ext cx="60388" cy="49242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7304414-40CD-DA18-DB3A-0B8A2E93C7AF}"/>
              </a:ext>
            </a:extLst>
          </p:cNvPr>
          <p:cNvSpPr/>
          <p:nvPr/>
        </p:nvSpPr>
        <p:spPr>
          <a:xfrm>
            <a:off x="7923554" y="1663694"/>
            <a:ext cx="60388" cy="49242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131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35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509</Words>
  <Application>Microsoft Office PowerPoint</Application>
  <PresentationFormat>ワイド画面</PresentationFormat>
  <Paragraphs>70</Paragraphs>
  <Slides>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游ゴシック</vt:lpstr>
      <vt:lpstr>游ゴシック</vt:lpstr>
      <vt:lpstr>游ゴシック Light</vt:lpstr>
      <vt:lpstr>Arial</vt:lpstr>
      <vt:lpstr>Cambria Math</vt:lpstr>
      <vt:lpstr>Office テーマ</vt:lpstr>
      <vt:lpstr>NFV上の最適経路割り当て問題</vt:lpstr>
      <vt:lpstr>仮想ネットワーク埋め込み問題（VNE）とは</vt:lpstr>
      <vt:lpstr>比較対象手法</vt:lpstr>
      <vt:lpstr>ALEVIN</vt:lpstr>
      <vt:lpstr>ALEVIN</vt:lpstr>
      <vt:lpstr>実験条件</vt:lpstr>
      <vt:lpstr>評価方法</vt:lpstr>
      <vt:lpstr>実験結果</vt:lpstr>
      <vt:lpstr>考察・まとめ・今後の課題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202103316</dc:creator>
  <cp:lastModifiedBy>202103316</cp:lastModifiedBy>
  <cp:revision>8</cp:revision>
  <dcterms:created xsi:type="dcterms:W3CDTF">2026-08-05T20:09:11Z</dcterms:created>
  <dcterms:modified xsi:type="dcterms:W3CDTF">2026-08-06T02:01:11Z</dcterms:modified>
</cp:coreProperties>
</file>