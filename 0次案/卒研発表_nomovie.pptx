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6" r:id="rId6"/>
    <p:sldId id="261" r:id="rId7"/>
    <p:sldId id="264" r:id="rId8"/>
    <p:sldId id="263" r:id="rId9"/>
    <p:sldId id="262" r:id="rId10"/>
    <p:sldId id="268"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7C1D"/>
    <a:srgbClr val="0B3E8D"/>
    <a:srgbClr val="156082"/>
    <a:srgbClr val="08464C"/>
    <a:srgbClr val="A1EDF5"/>
    <a:srgbClr val="0F7C86"/>
    <a:srgbClr val="A2D8F0"/>
    <a:srgbClr val="113160"/>
    <a:srgbClr val="E9D144"/>
    <a:srgbClr val="E7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788" autoAdjust="0"/>
  </p:normalViewPr>
  <p:slideViewPr>
    <p:cSldViewPr snapToGrid="0">
      <p:cViewPr varScale="1">
        <p:scale>
          <a:sx n="78" d="100"/>
          <a:sy n="78" d="100"/>
        </p:scale>
        <p:origin x="18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AE3885-3256-4B9F-8882-5B1297EDF95C}" type="datetimeFigureOut">
              <a:rPr kumimoji="1" lang="ja-JP" altLang="en-US" smtClean="0"/>
              <a:t>2026/8/17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F9A49-D64E-43C2-9FC1-8F4D9532AECF}" type="slidenum">
              <a:rPr kumimoji="1" lang="ja-JP" altLang="en-US" smtClean="0"/>
              <a:t>‹#›</a:t>
            </a:fld>
            <a:endParaRPr kumimoji="1" lang="ja-JP" altLang="en-US"/>
          </a:p>
        </p:txBody>
      </p:sp>
    </p:spTree>
    <p:extLst>
      <p:ext uri="{BB962C8B-B14F-4D97-AF65-F5344CB8AC3E}">
        <p14:creationId xmlns:p14="http://schemas.microsoft.com/office/powerpoint/2010/main" val="17234106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田中研究室の河本です。</a:t>
            </a:r>
            <a:br>
              <a:rPr lang="ja-JP" altLang="ja-JP" dirty="0"/>
            </a:br>
            <a:r>
              <a:rPr lang="ja-JP" altLang="ja-JP" dirty="0"/>
              <a:t>NFV上の最適経路割り当て問題について発表します。</a:t>
            </a:r>
            <a:br>
              <a:rPr lang="ja-JP" altLang="ja-JP" dirty="0"/>
            </a:br>
            <a:r>
              <a:rPr lang="ja-JP" altLang="ja-JP" dirty="0"/>
              <a:t>よろしくお願いします。</a:t>
            </a:r>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1</a:t>
            </a:fld>
            <a:endParaRPr kumimoji="1" lang="ja-JP" altLang="en-US"/>
          </a:p>
        </p:txBody>
      </p:sp>
    </p:spTree>
    <p:extLst>
      <p:ext uri="{BB962C8B-B14F-4D97-AF65-F5344CB8AC3E}">
        <p14:creationId xmlns:p14="http://schemas.microsoft.com/office/powerpoint/2010/main" val="298242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まず、本研究で扱う仮想ネットワーク埋め込み問題、VNEについて説明します。</a:t>
            </a:r>
          </a:p>
          <a:p>
            <a:r>
              <a:rPr lang="ja-JP" altLang="ja-JP" dirty="0"/>
              <a:t>左側が物理ネットワークへ割り当てたいVN要求で、右側が割り当て先となる物理ネットワークです。</a:t>
            </a:r>
          </a:p>
          <a:p>
            <a:r>
              <a:rPr lang="ja-JP" altLang="ja-JP" dirty="0"/>
              <a:t>VN要求を構成する仮想ノードはCPU需要を持ち、仮想リンクは帯域幅需要を持ちます。</a:t>
            </a:r>
            <a:br>
              <a:rPr lang="ja-JP" altLang="ja-JP" dirty="0"/>
            </a:br>
            <a:r>
              <a:rPr lang="ja-JP" altLang="ja-JP" dirty="0"/>
              <a:t>一方、物理ノードはCPU資源、物理リンクは帯域幅資源を持っています。</a:t>
            </a:r>
          </a:p>
          <a:p>
            <a:r>
              <a:rPr lang="ja-JP" altLang="ja-JP" dirty="0"/>
              <a:t>これらの需要を満たすように、仮想ノードを物理ノードへ、仮想リンクを物理ネットワーク上の経路へ割り当てます。</a:t>
            </a:r>
          </a:p>
          <a:p>
            <a:r>
              <a:rPr lang="ja-JP" altLang="ja-JP" dirty="0"/>
              <a:t>すべての需要を満たして割り当てられたVN要求を受理し、割り当てられない場合は棄却します。</a:t>
            </a:r>
          </a:p>
          <a:p>
            <a:r>
              <a:rPr lang="ja-JP" altLang="ja-JP" dirty="0"/>
              <a:t>また、VNEはNP困難な問題であるため、実用的な時間で解を求める発見的な手法が用いられます。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2</a:t>
            </a:fld>
            <a:endParaRPr kumimoji="1" lang="ja-JP" altLang="en-US"/>
          </a:p>
        </p:txBody>
      </p:sp>
    </p:spTree>
    <p:extLst>
      <p:ext uri="{BB962C8B-B14F-4D97-AF65-F5344CB8AC3E}">
        <p14:creationId xmlns:p14="http://schemas.microsoft.com/office/powerpoint/2010/main" val="1876155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本研究では、当研究室で提案された二ノ宮手法と寺生手法を比較します。</a:t>
            </a:r>
          </a:p>
          <a:p>
            <a:r>
              <a:rPr lang="ja-JP" altLang="ja-JP" dirty="0"/>
              <a:t>二ノ宮手法では、まず帯域幅需要を満たす物理リンクを抽出し、その端点を仮想ノードの割当候補とします。</a:t>
            </a:r>
            <a:br>
              <a:rPr lang="ja-JP" altLang="ja-JP" dirty="0"/>
            </a:br>
            <a:r>
              <a:rPr lang="ja-JP" altLang="ja-JP" dirty="0"/>
              <a:t>その候補の中から、CPU資源が最大の物理ノードを選択します。</a:t>
            </a:r>
          </a:p>
          <a:p>
            <a:r>
              <a:rPr lang="ja-JP" altLang="ja-JP" dirty="0"/>
              <a:t>一方、寺生手法では、CPU需要を満たす物理ノードを候補とし、それぞれの物理ノードに接続する物理リンクの残余帯域を評価します。</a:t>
            </a:r>
            <a:br>
              <a:rPr lang="ja-JP" altLang="ja-JP" dirty="0"/>
            </a:br>
            <a:r>
              <a:rPr lang="ja-JP" altLang="ja-JP" dirty="0"/>
              <a:t>そして、その値が最大の物理ノードを選択します。</a:t>
            </a:r>
          </a:p>
          <a:p>
            <a:r>
              <a:rPr lang="ja-JP" altLang="ja-JP" dirty="0"/>
              <a:t>両手法はノードの選択方法が異なりますが、仮想リンクの割り当てには共通してダイクストラ法を使用します。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3</a:t>
            </a:fld>
            <a:endParaRPr kumimoji="1" lang="ja-JP" altLang="en-US"/>
          </a:p>
        </p:txBody>
      </p:sp>
    </p:spTree>
    <p:extLst>
      <p:ext uri="{BB962C8B-B14F-4D97-AF65-F5344CB8AC3E}">
        <p14:creationId xmlns:p14="http://schemas.microsoft.com/office/powerpoint/2010/main" val="6377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本研究では、この2つの手法をVNEシミュレータであるALEVINへ実装しました。</a:t>
            </a:r>
          </a:p>
          <a:p>
            <a:r>
              <a:rPr lang="ja-JP" altLang="ja-JP" dirty="0"/>
              <a:t>具体的には、二ノ宮手法と寺生手法それぞれのノードマッピングを実装しました。</a:t>
            </a:r>
          </a:p>
          <a:p>
            <a:r>
              <a:rPr lang="ja-JP" altLang="ja-JP" dirty="0"/>
              <a:t>また、両手法を同じ条件で比較するために、共通して使用するダイクストラ法によるリンクマッピングも実装しました。</a:t>
            </a:r>
          </a:p>
          <a:p>
            <a:r>
              <a:rPr lang="ja-JP" altLang="ja-JP" dirty="0"/>
              <a:t>リンクマッピングを統一することで、主にノードの選択方法の違いによる性能差を比較します。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4</a:t>
            </a:fld>
            <a:endParaRPr kumimoji="1" lang="ja-JP" altLang="en-US"/>
          </a:p>
        </p:txBody>
      </p:sp>
    </p:spTree>
    <p:extLst>
      <p:ext uri="{BB962C8B-B14F-4D97-AF65-F5344CB8AC3E}">
        <p14:creationId xmlns:p14="http://schemas.microsoft.com/office/powerpoint/2010/main" val="2318938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ここでは、実際にALEVINがどのように動作するのかを動画で見ていただきます。</a:t>
            </a:r>
          </a:p>
          <a:p>
            <a:r>
              <a:rPr lang="ja-JP" altLang="ja-JP" dirty="0"/>
              <a:t>まず、このように使用するアルゴリズムを選択し、VN要求の埋め込みを行います。</a:t>
            </a:r>
          </a:p>
          <a:p>
            <a:r>
              <a:rPr lang="ja-JP" altLang="ja-JP" dirty="0"/>
              <a:t>埋め込み後は、評価したいMetricsを選択することで、受理率やCostRevenueなどの評価結果を確認することができます。</a:t>
            </a:r>
          </a:p>
          <a:p>
            <a:r>
              <a:rPr lang="ja-JP" altLang="ja-JP"/>
              <a:t>またALEVINでは、評価値を確認するだけでなく、このようにVN要求が物理ネットワーク上のどのノードやリンクに埋め込まれているのかを、視覚的に確認することもできます。</a:t>
            </a:r>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5</a:t>
            </a:fld>
            <a:endParaRPr kumimoji="1" lang="ja-JP" altLang="en-US"/>
          </a:p>
        </p:txBody>
      </p:sp>
    </p:spTree>
    <p:extLst>
      <p:ext uri="{BB962C8B-B14F-4D97-AF65-F5344CB8AC3E}">
        <p14:creationId xmlns:p14="http://schemas.microsoft.com/office/powerpoint/2010/main" val="2247141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次に実験条件です。</a:t>
            </a:r>
          </a:p>
          <a:p>
            <a:r>
              <a:rPr lang="ja-JP" altLang="ja-JP" dirty="0"/>
              <a:t>物理ネットワークのノード数は40、60、80の3種類とし、それぞれに10個のVN要求を埋め込みました。</a:t>
            </a:r>
          </a:p>
          <a:p>
            <a:r>
              <a:rPr lang="ja-JP" altLang="ja-JP" dirty="0"/>
              <a:t>VN要求に含まれる仮想ノードの総数は、それぞれ20、30、40です。</a:t>
            </a:r>
          </a:p>
          <a:p>
            <a:r>
              <a:rPr lang="ja-JP" altLang="ja-JP" dirty="0"/>
              <a:t>また、CPU需要と帯域幅需要の上限を、25と25、25と10、10と25の3種類としました。</a:t>
            </a:r>
          </a:p>
          <a:p>
            <a:r>
              <a:rPr lang="ja-JP" altLang="ja-JP" dirty="0"/>
              <a:t>物理ノード数3種類と需要条件3種類を組み合わせた合計9種類のシナリオについて、それぞれ5回実験を行いました。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6</a:t>
            </a:fld>
            <a:endParaRPr kumimoji="1" lang="ja-JP" altLang="en-US"/>
          </a:p>
        </p:txBody>
      </p:sp>
    </p:spTree>
    <p:extLst>
      <p:ext uri="{BB962C8B-B14F-4D97-AF65-F5344CB8AC3E}">
        <p14:creationId xmlns:p14="http://schemas.microsoft.com/office/powerpoint/2010/main" val="1436390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評価には、AcceptedVnrRatio、CostRevenue、実行時間の3つを使用します。</a:t>
            </a:r>
          </a:p>
          <a:p>
            <a:r>
              <a:rPr lang="ja-JP" altLang="ja-JP" dirty="0"/>
              <a:t>AcceptedVnrRatioは、すべてのVN要求のうち、何割を受理できたかを表します。</a:t>
            </a:r>
            <a:br>
              <a:rPr lang="ja-JP" altLang="ja-JP" dirty="0"/>
            </a:br>
            <a:r>
              <a:rPr lang="ja-JP" altLang="ja-JP" dirty="0"/>
              <a:t>そのため、この値は大きいほど性能が高いといえます。</a:t>
            </a:r>
          </a:p>
          <a:p>
            <a:r>
              <a:rPr lang="ja-JP" altLang="ja-JP" dirty="0"/>
              <a:t>CostRevenueは、受理した需要量に対して、どれだけ物理資源を消費したかを表します。</a:t>
            </a:r>
            <a:br>
              <a:rPr lang="ja-JP" altLang="ja-JP" dirty="0"/>
            </a:br>
            <a:r>
              <a:rPr lang="ja-JP" altLang="ja-JP" dirty="0"/>
              <a:t>この値は小さいほど、少ない物理資源でVN要求を埋め込めていることになります。</a:t>
            </a:r>
          </a:p>
          <a:p>
            <a:r>
              <a:rPr lang="ja-JP" altLang="ja-JP" dirty="0"/>
              <a:t>最後に、アルゴリズムの処理にかかった実行時間を測定しました。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7</a:t>
            </a:fld>
            <a:endParaRPr kumimoji="1" lang="ja-JP" altLang="en-US"/>
          </a:p>
        </p:txBody>
      </p:sp>
    </p:spTree>
    <p:extLst>
      <p:ext uri="{BB962C8B-B14F-4D97-AF65-F5344CB8AC3E}">
        <p14:creationId xmlns:p14="http://schemas.microsoft.com/office/powerpoint/2010/main" val="3626830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実験結果です。</a:t>
            </a:r>
          </a:p>
          <a:p>
            <a:r>
              <a:rPr lang="ja-JP" altLang="ja-JP" dirty="0"/>
              <a:t>まず左上の受理率を見ると、寺生手法は9条件中6条件で二ノ宮手法を上回りました。</a:t>
            </a:r>
            <a:br>
              <a:rPr lang="ja-JP" altLang="ja-JP" dirty="0"/>
            </a:br>
            <a:r>
              <a:rPr lang="ja-JP" altLang="ja-JP" dirty="0"/>
              <a:t>1条件では同じ値となり、残りの2条件では二ノ宮手法が上回りました。</a:t>
            </a:r>
          </a:p>
          <a:p>
            <a:r>
              <a:rPr lang="ja-JP" altLang="ja-JP" dirty="0"/>
              <a:t>次にCostRevenueを見ると、9条件すべてで寺生手法の値が二ノ宮手法より小さくなりました。</a:t>
            </a:r>
            <a:br>
              <a:rPr lang="ja-JP" altLang="ja-JP" dirty="0"/>
            </a:br>
            <a:r>
              <a:rPr lang="ja-JP" altLang="ja-JP" dirty="0"/>
              <a:t>したがって、今回の条件では寺生手法の方が、受理した需要量に対して少ない物理資源で埋め込めたことになります。</a:t>
            </a:r>
          </a:p>
          <a:p>
            <a:r>
              <a:rPr lang="ja-JP" altLang="ja-JP" dirty="0"/>
              <a:t>一方、実行時間では逆の結果となりました。</a:t>
            </a:r>
            <a:br>
              <a:rPr lang="ja-JP" altLang="ja-JP" dirty="0"/>
            </a:br>
            <a:r>
              <a:rPr lang="ja-JP" altLang="ja-JP" dirty="0"/>
              <a:t>すべての条件で二ノ宮手法の方が短い実行時間となりました。</a:t>
            </a:r>
          </a:p>
          <a:p>
            <a:r>
              <a:rPr lang="ja-JP" altLang="ja-JP" dirty="0"/>
              <a:t>以上から、寺生手法は受理性能と物理資源の利用効率で優位な傾向を示し、二ノ宮手法は実行時間で優位となりました。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8</a:t>
            </a:fld>
            <a:endParaRPr kumimoji="1" lang="ja-JP" altLang="en-US"/>
          </a:p>
        </p:txBody>
      </p:sp>
    </p:spTree>
    <p:extLst>
      <p:ext uri="{BB962C8B-B14F-4D97-AF65-F5344CB8AC3E}">
        <p14:creationId xmlns:p14="http://schemas.microsoft.com/office/powerpoint/2010/main" val="1962987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本研究では、二ノ宮手法、寺生手法とダイクストラ法によるリンクマッピングをALEVINへ実装し、同一条件で比較しました。</a:t>
            </a:r>
          </a:p>
          <a:p>
            <a:r>
              <a:rPr lang="ja-JP" altLang="ja-JP" dirty="0"/>
              <a:t>寺生手法では、物理ノードに接続するリンクの残余帯域を考慮してノードを選択します。</a:t>
            </a:r>
            <a:br>
              <a:rPr lang="ja-JP" altLang="ja-JP" dirty="0"/>
            </a:br>
            <a:r>
              <a:rPr lang="ja-JP" altLang="ja-JP" dirty="0"/>
              <a:t>そのため、後のリンクマッピングで使用できる帯域を確保しやすくなり、受理率やCostRevenueで良い結果につながった可能性があります。</a:t>
            </a:r>
          </a:p>
          <a:p>
            <a:r>
              <a:rPr lang="ja-JP" altLang="ja-JP" dirty="0"/>
              <a:t>一方、二ノ宮手法の実行時間が短かった原因として、VN要求を早い段階で棄却することで、後続の処理を省略した可能性があります。</a:t>
            </a:r>
          </a:p>
          <a:p>
            <a:r>
              <a:rPr lang="ja-JP" altLang="ja-JP" dirty="0"/>
              <a:t>ただし、これは現在の結果だけでは断定できません。</a:t>
            </a:r>
          </a:p>
          <a:p>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9</a:t>
            </a:fld>
            <a:endParaRPr kumimoji="1" lang="ja-JP" altLang="en-US"/>
          </a:p>
        </p:txBody>
      </p:sp>
    </p:spTree>
    <p:extLst>
      <p:ext uri="{BB962C8B-B14F-4D97-AF65-F5344CB8AC3E}">
        <p14:creationId xmlns:p14="http://schemas.microsoft.com/office/powerpoint/2010/main" val="3056970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最後に今後の課題です。</a:t>
            </a:r>
            <a:br>
              <a:rPr lang="ja-JP" altLang="ja-JP" dirty="0"/>
            </a:br>
            <a:r>
              <a:rPr lang="ja-JP" altLang="ja-JP" dirty="0"/>
              <a:t>今回の実験では、物理ネットワークの規模とVN要求の仮想ノード数を同時に変更しているため、今後は仮想ノード数を固定し、物理ネットワークの規模だけを変更して再評価します。</a:t>
            </a:r>
            <a:br>
              <a:rPr lang="ja-JP" altLang="ja-JP" dirty="0"/>
            </a:br>
            <a:r>
              <a:rPr lang="ja-JP" altLang="ja-JP" dirty="0"/>
              <a:t>また、二ノ宮手法の実行時間が短くなった原因を明らかにするため、処理ごとの実行時間とVN要求の棄却数を計測します。</a:t>
            </a:r>
            <a:br>
              <a:rPr lang="ja-JP" altLang="ja-JP" dirty="0"/>
            </a:br>
            <a:r>
              <a:rPr lang="ja-JP" altLang="ja-JP" dirty="0"/>
              <a:t>さらに、現在はネットワークを有向グラフとして扱っているため、本研究で想定している無向グラフへ変更し、再評価を行います。</a:t>
            </a:r>
            <a:endParaRPr lang="en-US" altLang="ja-JP" dirty="0"/>
          </a:p>
          <a:p>
            <a:r>
              <a:rPr lang="ja-JP" altLang="ja-JP" dirty="0"/>
              <a:t>以上で発表を終わります。</a:t>
            </a:r>
            <a:br>
              <a:rPr lang="ja-JP" altLang="ja-JP" dirty="0"/>
            </a:br>
            <a:r>
              <a:rPr lang="ja-JP" altLang="ja-JP" dirty="0"/>
              <a:t>ご清聴ありがとうございました。</a:t>
            </a:r>
            <a:endParaRPr kumimoji="1" lang="ja-JP" altLang="en-US" dirty="0"/>
          </a:p>
        </p:txBody>
      </p:sp>
      <p:sp>
        <p:nvSpPr>
          <p:cNvPr id="4" name="スライド番号プレースホルダー 3"/>
          <p:cNvSpPr>
            <a:spLocks noGrp="1"/>
          </p:cNvSpPr>
          <p:nvPr>
            <p:ph type="sldNum" sz="quarter" idx="5"/>
          </p:nvPr>
        </p:nvSpPr>
        <p:spPr/>
        <p:txBody>
          <a:bodyPr/>
          <a:lstStyle/>
          <a:p>
            <a:fld id="{A58F9A49-D64E-43C2-9FC1-8F4D9532AECF}" type="slidenum">
              <a:rPr kumimoji="1" lang="ja-JP" altLang="en-US" smtClean="0"/>
              <a:t>10</a:t>
            </a:fld>
            <a:endParaRPr kumimoji="1" lang="ja-JP" altLang="en-US"/>
          </a:p>
        </p:txBody>
      </p:sp>
    </p:spTree>
    <p:extLst>
      <p:ext uri="{BB962C8B-B14F-4D97-AF65-F5344CB8AC3E}">
        <p14:creationId xmlns:p14="http://schemas.microsoft.com/office/powerpoint/2010/main" val="1445777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722D28-1E2F-2E86-635A-F0B90C8AEF1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3B5D781-E38A-3846-FDEE-7521A12080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140E0FF-9785-8414-AAF3-346DA3A92070}"/>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2FDE8B18-1E79-9DB4-BF26-669C3183CB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16D042-8FA5-679C-1319-3815F98BD858}"/>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2430874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C8AB98-0F37-001F-04EA-1B076C8402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045522-1C40-05B1-9EB7-213EA0A06D9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E26F60-14DF-1C96-ADCA-02B14B1EBB54}"/>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8744D84A-97FF-3CFA-06A8-E756D549894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A9AFEA-2AE7-5E08-CF60-3F4A36718CD2}"/>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274673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7C5282-C8DB-CF60-7827-8930535C726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C5B2FD5-6214-60B2-2A91-A10F8CCF47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84EDA1E-9A4E-F4E4-0D35-E6D9FDA900AF}"/>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B9B42AEE-EC9B-5ACE-6546-81381DD3B3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E601A28-5DB1-8C29-92F9-5BEE375090A6}"/>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2635103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299BC7-D256-7FF0-DD42-6FE2C05EE15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916D01-0BF2-1E93-72EB-673431E5B88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D1AB2C5-2CAA-8120-AE30-D28A7755FC6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93F00A3-7E40-F794-FC1E-E02526410E9D}"/>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6" name="フッター プレースホルダー 5">
            <a:extLst>
              <a:ext uri="{FF2B5EF4-FFF2-40B4-BE49-F238E27FC236}">
                <a16:creationId xmlns:a16="http://schemas.microsoft.com/office/drawing/2014/main" id="{A6660507-C5E5-78AA-A89A-92E9EE8517E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5FA808-9A17-F4E4-2DF4-476039A9EF92}"/>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2841429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112745-E8D3-2202-B1D3-F8AC5C94181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7758C0E-9341-1324-58D7-3CCDBF810E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D6E85BF-333E-6D15-4A5B-C70E3CA9A3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68DB324-19DB-2C74-D9B9-5D271C2185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D55159-E143-D13C-07A2-8267A9F0D20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E4029D6-09B1-59A0-C46B-22E878C056C8}"/>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8" name="フッター プレースホルダー 7">
            <a:extLst>
              <a:ext uri="{FF2B5EF4-FFF2-40B4-BE49-F238E27FC236}">
                <a16:creationId xmlns:a16="http://schemas.microsoft.com/office/drawing/2014/main" id="{3695E40C-0CE5-154F-8683-943FA29FA7E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3BF5640-392B-C20E-D99A-671986D6B1A9}"/>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1718894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0AAEF8-9B30-C22B-18A2-CA6D70B9831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F0FFEE0-8023-0CFE-48F2-545D451C1DE2}"/>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4" name="フッター プレースホルダー 3">
            <a:extLst>
              <a:ext uri="{FF2B5EF4-FFF2-40B4-BE49-F238E27FC236}">
                <a16:creationId xmlns:a16="http://schemas.microsoft.com/office/drawing/2014/main" id="{7F38C42F-E8D5-8F9D-700F-1C96FAA1032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CAC7715-EED3-2F67-C652-41B7BA68A670}"/>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74896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5D17785-8CB4-CBA0-11FD-F5472B60EA7B}"/>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3" name="フッター プレースホルダー 2">
            <a:extLst>
              <a:ext uri="{FF2B5EF4-FFF2-40B4-BE49-F238E27FC236}">
                <a16:creationId xmlns:a16="http://schemas.microsoft.com/office/drawing/2014/main" id="{4FE9D709-F637-2E65-B55E-4E708B4026C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821DE51-C9A6-15E9-11F9-9F130A91285B}"/>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3378128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D41BD9-B849-D34D-EB67-E620C6FCD56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15041A-3AE4-07D9-AE1D-9A4CCDEC91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EB0014E-DAD0-8DF0-1307-692B87AED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43862F6-1BB7-9F12-3E1B-5F070CD0802C}"/>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6" name="フッター プレースホルダー 5">
            <a:extLst>
              <a:ext uri="{FF2B5EF4-FFF2-40B4-BE49-F238E27FC236}">
                <a16:creationId xmlns:a16="http://schemas.microsoft.com/office/drawing/2014/main" id="{1D9FBE4B-2FCF-05FA-B5DB-BBE321C6030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AEF1B4C-28FF-2FEE-D1AA-A8B419121948}"/>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311848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0022A9-C146-6BEA-3818-B710C5AC26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97D2B69-9176-FC21-7F20-3FE973D8DB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8207583-DC30-7F52-5736-B0DEB882B0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2C02987-ACF6-41BE-6508-C9E161309BB3}"/>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6" name="フッター プレースホルダー 5">
            <a:extLst>
              <a:ext uri="{FF2B5EF4-FFF2-40B4-BE49-F238E27FC236}">
                <a16:creationId xmlns:a16="http://schemas.microsoft.com/office/drawing/2014/main" id="{8B7D7DB4-8FB7-2EE2-01D4-387BBFDA12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6217C9-28C5-E5B7-E067-826F1817698A}"/>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1061696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1486FA-D0C7-B385-0EAE-E2349508029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48A0CF5-C84F-5836-9CC8-38980D8F7AA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310C2B5-74C1-CC0F-497D-1CD803A6EBDF}"/>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9BF675A5-6B39-119C-81D0-47C19101DFE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F41718A-B2BB-7D43-34F1-62973B0C173D}"/>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3304934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4DEE025-05E8-554A-021A-0496A1739FB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1887793-89ED-4CFC-5FFA-E1DDE9426AC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21A2AA-ED85-DF79-E797-F5C5C839AFB7}"/>
              </a:ext>
            </a:extLst>
          </p:cNvPr>
          <p:cNvSpPr>
            <a:spLocks noGrp="1"/>
          </p:cNvSpPr>
          <p:nvPr>
            <p:ph type="dt" sz="half" idx="10"/>
          </p:nvPr>
        </p:nvSpPr>
        <p:spPr/>
        <p:txBody>
          <a:body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A69F649D-7B86-D6E6-6E79-6CE6E77F2E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759A4B-8173-64BA-D225-4BB38A0DE490}"/>
              </a:ext>
            </a:extLst>
          </p:cNvPr>
          <p:cNvSpPr>
            <a:spLocks noGrp="1"/>
          </p:cNvSpPr>
          <p:nvPr>
            <p:ph type="sldNum" sz="quarter" idx="12"/>
          </p:nvPr>
        </p:nvSpPr>
        <p:spPr/>
        <p:txBody>
          <a:body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48900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10C8E10-BF5E-7A0F-13A1-71CACAEE85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8630682-73C8-4BA0-91B7-7C201AACDF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2C68E99-370E-2A0C-18F2-5C66406236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0EB2B4-2A3D-4984-9DB1-40EC1C35540F}" type="datetimeFigureOut">
              <a:rPr kumimoji="1" lang="ja-JP" altLang="en-US" smtClean="0"/>
              <a:t>2026/8/17</a:t>
            </a:fld>
            <a:endParaRPr kumimoji="1" lang="ja-JP" altLang="en-US"/>
          </a:p>
        </p:txBody>
      </p:sp>
      <p:sp>
        <p:nvSpPr>
          <p:cNvPr id="5" name="フッター プレースホルダー 4">
            <a:extLst>
              <a:ext uri="{FF2B5EF4-FFF2-40B4-BE49-F238E27FC236}">
                <a16:creationId xmlns:a16="http://schemas.microsoft.com/office/drawing/2014/main" id="{DFDCA3DD-AEEC-7A5F-48C3-411C557988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6AB5B3-A534-4DEB-328D-0AA70FAA5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1104AB-1943-45EB-BF83-1F9C0DDCBA14}" type="slidenum">
              <a:rPr kumimoji="1" lang="ja-JP" altLang="en-US" smtClean="0"/>
              <a:t>‹#›</a:t>
            </a:fld>
            <a:endParaRPr kumimoji="1" lang="ja-JP" altLang="en-US"/>
          </a:p>
        </p:txBody>
      </p:sp>
    </p:spTree>
    <p:extLst>
      <p:ext uri="{BB962C8B-B14F-4D97-AF65-F5344CB8AC3E}">
        <p14:creationId xmlns:p14="http://schemas.microsoft.com/office/powerpoint/2010/main" val="3557526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18D4DA8-0316-DFE4-D1C2-01120B74289A}"/>
              </a:ext>
            </a:extLst>
          </p:cNvPr>
          <p:cNvSpPr>
            <a:spLocks noGrp="1"/>
          </p:cNvSpPr>
          <p:nvPr>
            <p:ph type="ctrTitle"/>
          </p:nvPr>
        </p:nvSpPr>
        <p:spPr>
          <a:xfrm>
            <a:off x="1498067" y="1288636"/>
            <a:ext cx="9186727" cy="3081242"/>
          </a:xfrm>
        </p:spPr>
        <p:txBody>
          <a:bodyPr anchor="ctr">
            <a:normAutofit/>
          </a:bodyPr>
          <a:lstStyle/>
          <a:p>
            <a:r>
              <a:rPr lang="ja-JP" altLang="ja-JP" sz="4800" b="1" dirty="0">
                <a:solidFill>
                  <a:srgbClr val="FFFFFF"/>
                </a:solidFill>
              </a:rPr>
              <a:t>NFV上の最適経路割り当て問題</a:t>
            </a:r>
            <a:endParaRPr kumimoji="1" lang="ja-JP" altLang="en-US" sz="4800" b="1" dirty="0">
              <a:solidFill>
                <a:srgbClr val="FFFFFF"/>
              </a:solidFill>
            </a:endParaRPr>
          </a:p>
        </p:txBody>
      </p:sp>
      <p:sp>
        <p:nvSpPr>
          <p:cNvPr id="3" name="字幕 2">
            <a:extLst>
              <a:ext uri="{FF2B5EF4-FFF2-40B4-BE49-F238E27FC236}">
                <a16:creationId xmlns:a16="http://schemas.microsoft.com/office/drawing/2014/main" id="{227F39CE-C7CF-B18B-4943-E3E9FFB22C7B}"/>
              </a:ext>
            </a:extLst>
          </p:cNvPr>
          <p:cNvSpPr>
            <a:spLocks noGrp="1"/>
          </p:cNvSpPr>
          <p:nvPr>
            <p:ph type="subTitle" idx="1"/>
          </p:nvPr>
        </p:nvSpPr>
        <p:spPr>
          <a:xfrm>
            <a:off x="1559943" y="5171093"/>
            <a:ext cx="9078628" cy="860620"/>
          </a:xfrm>
        </p:spPr>
        <p:txBody>
          <a:bodyPr anchor="ctr">
            <a:normAutofit/>
          </a:bodyPr>
          <a:lstStyle/>
          <a:p>
            <a:r>
              <a:rPr lang="ja-JP" altLang="ja-JP">
                <a:solidFill>
                  <a:srgbClr val="FFFFFF"/>
                </a:solidFill>
              </a:rPr>
              <a:t>田中研究室: 河本　明日翔</a:t>
            </a:r>
            <a:endParaRPr kumimoji="1" lang="ja-JP" altLang="en-US">
              <a:solidFill>
                <a:srgbClr val="FFFFFF"/>
              </a:solidFill>
            </a:endParaRPr>
          </a:p>
        </p:txBody>
      </p:sp>
    </p:spTree>
    <p:extLst>
      <p:ext uri="{BB962C8B-B14F-4D97-AF65-F5344CB8AC3E}">
        <p14:creationId xmlns:p14="http://schemas.microsoft.com/office/powerpoint/2010/main" val="3023678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491BE5-3EE6-D721-6A5E-395C9A611990}"/>
              </a:ext>
            </a:extLst>
          </p:cNvPr>
          <p:cNvSpPr>
            <a:spLocks noGrp="1"/>
          </p:cNvSpPr>
          <p:nvPr>
            <p:ph type="title"/>
          </p:nvPr>
        </p:nvSpPr>
        <p:spPr>
          <a:xfrm>
            <a:off x="173255" y="365125"/>
            <a:ext cx="11742821" cy="1325563"/>
          </a:xfrm>
        </p:spPr>
        <p:txBody>
          <a:bodyPr/>
          <a:lstStyle/>
          <a:p>
            <a:r>
              <a:rPr lang="ja-JP" altLang="en-US" b="1" dirty="0">
                <a:solidFill>
                  <a:srgbClr val="113160"/>
                </a:solidFill>
              </a:rPr>
              <a:t>仮想ネットワーク埋め込み問題（</a:t>
            </a:r>
            <a:r>
              <a:rPr lang="en-US" altLang="ja-JP" b="1" dirty="0">
                <a:solidFill>
                  <a:srgbClr val="113160"/>
                </a:solidFill>
              </a:rPr>
              <a:t>VNE</a:t>
            </a:r>
            <a:r>
              <a:rPr lang="ja-JP" altLang="en-US" b="1" dirty="0">
                <a:solidFill>
                  <a:srgbClr val="113160"/>
                </a:solidFill>
              </a:rPr>
              <a:t>）</a:t>
            </a:r>
            <a:r>
              <a:rPr kumimoji="1" lang="ja-JP" altLang="en-US" b="1" dirty="0">
                <a:solidFill>
                  <a:srgbClr val="113160"/>
                </a:solidFill>
              </a:rPr>
              <a:t>とは</a:t>
            </a:r>
          </a:p>
        </p:txBody>
      </p:sp>
      <p:pic>
        <p:nvPicPr>
          <p:cNvPr id="6" name="コンテンツ プレースホルダー 5">
            <a:extLst>
              <a:ext uri="{FF2B5EF4-FFF2-40B4-BE49-F238E27FC236}">
                <a16:creationId xmlns:a16="http://schemas.microsoft.com/office/drawing/2014/main" id="{130C6775-BC1F-F467-6CEA-2B03CC35801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1127" y="1768395"/>
            <a:ext cx="4464804" cy="2559170"/>
          </a:xfrm>
          <a:prstGeom prst="rect">
            <a:avLst/>
          </a:prstGeom>
        </p:spPr>
      </p:pic>
      <p:pic>
        <p:nvPicPr>
          <p:cNvPr id="10" name="コンテンツ プレースホルダー 4">
            <a:extLst>
              <a:ext uri="{FF2B5EF4-FFF2-40B4-BE49-F238E27FC236}">
                <a16:creationId xmlns:a16="http://schemas.microsoft.com/office/drawing/2014/main" id="{70B33377-3451-BCF8-76CF-7A74D79BBA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4925" y="1711212"/>
            <a:ext cx="3966851" cy="2742333"/>
          </a:xfrm>
          <a:prstGeom prst="rect">
            <a:avLst/>
          </a:prstGeom>
        </p:spPr>
      </p:pic>
      <p:sp>
        <p:nvSpPr>
          <p:cNvPr id="11" name="矢印: 右 10">
            <a:extLst>
              <a:ext uri="{FF2B5EF4-FFF2-40B4-BE49-F238E27FC236}">
                <a16:creationId xmlns:a16="http://schemas.microsoft.com/office/drawing/2014/main" id="{6B43BD15-AECD-DB1F-1EC1-72C2F0584FBD}"/>
              </a:ext>
            </a:extLst>
          </p:cNvPr>
          <p:cNvSpPr/>
          <p:nvPr/>
        </p:nvSpPr>
        <p:spPr>
          <a:xfrm>
            <a:off x="5372928" y="2735870"/>
            <a:ext cx="1405000" cy="693019"/>
          </a:xfrm>
          <a:prstGeom prst="rightArrow">
            <a:avLst/>
          </a:prstGeom>
          <a:solidFill>
            <a:srgbClr val="0F7C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0F7C86"/>
              </a:solidFill>
              <a:highlight>
                <a:srgbClr val="008000"/>
              </a:highlight>
            </a:endParaRPr>
          </a:p>
        </p:txBody>
      </p:sp>
      <p:sp>
        <p:nvSpPr>
          <p:cNvPr id="12" name="テキスト ボックス 11">
            <a:extLst>
              <a:ext uri="{FF2B5EF4-FFF2-40B4-BE49-F238E27FC236}">
                <a16:creationId xmlns:a16="http://schemas.microsoft.com/office/drawing/2014/main" id="{B3F3FDBF-64BF-2C77-9AA0-44FE370255FF}"/>
              </a:ext>
            </a:extLst>
          </p:cNvPr>
          <p:cNvSpPr txBox="1"/>
          <p:nvPr/>
        </p:nvSpPr>
        <p:spPr>
          <a:xfrm>
            <a:off x="477911" y="4873731"/>
            <a:ext cx="5242849" cy="400110"/>
          </a:xfrm>
          <a:prstGeom prst="rect">
            <a:avLst/>
          </a:prstGeom>
          <a:noFill/>
        </p:spPr>
        <p:txBody>
          <a:bodyPr wrap="square" rtlCol="0">
            <a:spAutoFit/>
          </a:bodyPr>
          <a:lstStyle/>
          <a:p>
            <a:r>
              <a:rPr kumimoji="1" lang="ja-JP" altLang="en-US" sz="2000" dirty="0">
                <a:solidFill>
                  <a:srgbClr val="0B3E8D"/>
                </a:solidFill>
              </a:rPr>
              <a:t>埋め込み前：</a:t>
            </a:r>
            <a:r>
              <a:rPr kumimoji="1" lang="en-US" altLang="ja-JP" sz="2000" dirty="0">
                <a:solidFill>
                  <a:srgbClr val="0B3E8D"/>
                </a:solidFill>
              </a:rPr>
              <a:t>VN</a:t>
            </a:r>
            <a:r>
              <a:rPr kumimoji="1" lang="ja-JP" altLang="en-US" sz="2000" dirty="0">
                <a:solidFill>
                  <a:srgbClr val="0B3E8D"/>
                </a:solidFill>
              </a:rPr>
              <a:t>要求と物理ネットワーク</a:t>
            </a:r>
          </a:p>
        </p:txBody>
      </p:sp>
      <p:sp>
        <p:nvSpPr>
          <p:cNvPr id="13" name="テキスト ボックス 12">
            <a:extLst>
              <a:ext uri="{FF2B5EF4-FFF2-40B4-BE49-F238E27FC236}">
                <a16:creationId xmlns:a16="http://schemas.microsoft.com/office/drawing/2014/main" id="{ACC6FC94-995F-15BA-0B48-B6B01E3D169F}"/>
              </a:ext>
            </a:extLst>
          </p:cNvPr>
          <p:cNvSpPr txBox="1"/>
          <p:nvPr/>
        </p:nvSpPr>
        <p:spPr>
          <a:xfrm>
            <a:off x="7277727" y="4904509"/>
            <a:ext cx="4164201" cy="400110"/>
          </a:xfrm>
          <a:prstGeom prst="rect">
            <a:avLst/>
          </a:prstGeom>
          <a:noFill/>
        </p:spPr>
        <p:txBody>
          <a:bodyPr wrap="square" rtlCol="0">
            <a:spAutoFit/>
          </a:bodyPr>
          <a:lstStyle/>
          <a:p>
            <a:r>
              <a:rPr kumimoji="1" lang="ja-JP" altLang="en-US" sz="2000" dirty="0">
                <a:solidFill>
                  <a:srgbClr val="0B3E8D"/>
                </a:solidFill>
              </a:rPr>
              <a:t>埋め込み後：物理資源へ割り当て</a:t>
            </a:r>
          </a:p>
        </p:txBody>
      </p:sp>
      <p:sp>
        <p:nvSpPr>
          <p:cNvPr id="14" name="テキスト ボックス 13">
            <a:extLst>
              <a:ext uri="{FF2B5EF4-FFF2-40B4-BE49-F238E27FC236}">
                <a16:creationId xmlns:a16="http://schemas.microsoft.com/office/drawing/2014/main" id="{5703DA41-E463-0971-E551-B19E443C9449}"/>
              </a:ext>
            </a:extLst>
          </p:cNvPr>
          <p:cNvSpPr txBox="1"/>
          <p:nvPr/>
        </p:nvSpPr>
        <p:spPr>
          <a:xfrm>
            <a:off x="591127" y="5569527"/>
            <a:ext cx="9670473" cy="923330"/>
          </a:xfrm>
          <a:prstGeom prst="rect">
            <a:avLst/>
          </a:prstGeom>
          <a:noFill/>
        </p:spPr>
        <p:txBody>
          <a:bodyPr wrap="square" rtlCol="0">
            <a:spAutoFit/>
          </a:bodyPr>
          <a:lstStyle/>
          <a:p>
            <a:r>
              <a:rPr kumimoji="1" lang="ja-JP" altLang="en-US" dirty="0"/>
              <a:t>仮想ノードは</a:t>
            </a:r>
            <a:r>
              <a:rPr kumimoji="1" lang="en-US" altLang="ja-JP" dirty="0"/>
              <a:t>CPU</a:t>
            </a:r>
            <a:r>
              <a:rPr kumimoji="1" lang="ja-JP" altLang="en-US" dirty="0"/>
              <a:t>需要，仮想リンクは帯域幅需要を持つ。</a:t>
            </a:r>
          </a:p>
          <a:p>
            <a:r>
              <a:rPr kumimoji="1" lang="ja-JP" altLang="en-US" dirty="0"/>
              <a:t>需要を満たす物理ノード・物理リンクへ割り当てられれば受理，できなければ棄却。</a:t>
            </a:r>
            <a:br>
              <a:rPr kumimoji="1" lang="en-US" altLang="ja-JP" dirty="0"/>
            </a:br>
            <a:r>
              <a:rPr kumimoji="1" lang="en-US" altLang="ja-JP" dirty="0"/>
              <a:t>VNE</a:t>
            </a:r>
            <a:r>
              <a:rPr kumimoji="1" lang="ja-JP" altLang="en-US" dirty="0"/>
              <a:t>は</a:t>
            </a:r>
            <a:r>
              <a:rPr kumimoji="1" lang="en-US" altLang="ja-JP" dirty="0"/>
              <a:t>NP</a:t>
            </a:r>
            <a:r>
              <a:rPr kumimoji="1" lang="ja-JP" altLang="en-US" dirty="0"/>
              <a:t>困難である</a:t>
            </a:r>
          </a:p>
        </p:txBody>
      </p:sp>
      <p:sp>
        <p:nvSpPr>
          <p:cNvPr id="4" name="正方形/長方形 3">
            <a:extLst>
              <a:ext uri="{FF2B5EF4-FFF2-40B4-BE49-F238E27FC236}">
                <a16:creationId xmlns:a16="http://schemas.microsoft.com/office/drawing/2014/main" id="{F8B476B1-3DD4-17F7-488C-C438E3962B03}"/>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5" name="正方形/長方形 4">
            <a:extLst>
              <a:ext uri="{FF2B5EF4-FFF2-40B4-BE49-F238E27FC236}">
                <a16:creationId xmlns:a16="http://schemas.microsoft.com/office/drawing/2014/main" id="{8C7B4FBF-7923-06BB-9748-0C89EB9AAB3F}"/>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Tree>
    <p:extLst>
      <p:ext uri="{BB962C8B-B14F-4D97-AF65-F5344CB8AC3E}">
        <p14:creationId xmlns:p14="http://schemas.microsoft.com/office/powerpoint/2010/main" val="523576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E0142C-0CFD-8DB8-9C4F-4DBDF7EF0870}"/>
              </a:ext>
            </a:extLst>
          </p:cNvPr>
          <p:cNvSpPr>
            <a:spLocks noGrp="1"/>
          </p:cNvSpPr>
          <p:nvPr>
            <p:ph type="title"/>
          </p:nvPr>
        </p:nvSpPr>
        <p:spPr>
          <a:xfrm>
            <a:off x="275924" y="365126"/>
            <a:ext cx="3549073" cy="1325563"/>
          </a:xfrm>
        </p:spPr>
        <p:txBody>
          <a:bodyPr/>
          <a:lstStyle/>
          <a:p>
            <a:r>
              <a:rPr lang="ja-JP" altLang="ja-JP" b="1" dirty="0">
                <a:solidFill>
                  <a:srgbClr val="113160"/>
                </a:solidFill>
              </a:rPr>
              <a:t>比較対象手法</a:t>
            </a:r>
            <a:endParaRPr kumimoji="1" lang="ja-JP" altLang="en-US" b="1" dirty="0">
              <a:solidFill>
                <a:srgbClr val="113160"/>
              </a:solidFill>
            </a:endParaRPr>
          </a:p>
        </p:txBody>
      </p:sp>
      <p:sp>
        <p:nvSpPr>
          <p:cNvPr id="3" name="コンテンツ プレースホルダー 2">
            <a:extLst>
              <a:ext uri="{FF2B5EF4-FFF2-40B4-BE49-F238E27FC236}">
                <a16:creationId xmlns:a16="http://schemas.microsoft.com/office/drawing/2014/main" id="{4723BDE8-DDD5-8621-C4D5-89EC49AAE65C}"/>
              </a:ext>
            </a:extLst>
          </p:cNvPr>
          <p:cNvSpPr>
            <a:spLocks noGrp="1"/>
          </p:cNvSpPr>
          <p:nvPr>
            <p:ph idx="1"/>
          </p:nvPr>
        </p:nvSpPr>
        <p:spPr>
          <a:xfrm>
            <a:off x="1734113" y="1665799"/>
            <a:ext cx="2800942" cy="498330"/>
          </a:xfrm>
        </p:spPr>
        <p:txBody>
          <a:bodyPr>
            <a:noAutofit/>
          </a:bodyPr>
          <a:lstStyle/>
          <a:p>
            <a:pPr marL="0" indent="0">
              <a:buNone/>
            </a:pPr>
            <a:r>
              <a:rPr lang="ja-JP" altLang="ja-JP" sz="4000" dirty="0">
                <a:solidFill>
                  <a:srgbClr val="0B3E8D"/>
                </a:solidFill>
              </a:rPr>
              <a:t>二ノ宮手法</a:t>
            </a:r>
            <a:endParaRPr kumimoji="1" lang="ja-JP" altLang="en-US" sz="4000" dirty="0">
              <a:solidFill>
                <a:srgbClr val="0B3E8D"/>
              </a:solidFill>
            </a:endParaRPr>
          </a:p>
        </p:txBody>
      </p:sp>
      <p:sp>
        <p:nvSpPr>
          <p:cNvPr id="5" name="テキスト ボックス 4">
            <a:extLst>
              <a:ext uri="{FF2B5EF4-FFF2-40B4-BE49-F238E27FC236}">
                <a16:creationId xmlns:a16="http://schemas.microsoft.com/office/drawing/2014/main" id="{70020C86-68C6-2E0B-98C5-1071A2BE865E}"/>
              </a:ext>
            </a:extLst>
          </p:cNvPr>
          <p:cNvSpPr txBox="1"/>
          <p:nvPr/>
        </p:nvSpPr>
        <p:spPr>
          <a:xfrm>
            <a:off x="632287" y="2372306"/>
            <a:ext cx="5983563" cy="3416320"/>
          </a:xfrm>
          <a:prstGeom prst="rect">
            <a:avLst/>
          </a:prstGeom>
          <a:noFill/>
        </p:spPr>
        <p:txBody>
          <a:bodyPr wrap="square" rtlCol="0">
            <a:spAutoFit/>
          </a:bodyPr>
          <a:lstStyle/>
          <a:p>
            <a:r>
              <a:rPr kumimoji="1" lang="ja-JP" altLang="en-US" sz="2400" dirty="0"/>
              <a:t>１．帯域幅需要を満たす物理リンク</a:t>
            </a:r>
            <a:endParaRPr kumimoji="1" lang="en-US" altLang="ja-JP" sz="2400" dirty="0"/>
          </a:p>
          <a:p>
            <a:r>
              <a:rPr kumimoji="1" lang="ja-JP" altLang="en-US" sz="2400" dirty="0"/>
              <a:t>を抽出</a:t>
            </a:r>
            <a:endParaRPr kumimoji="1" lang="en-US" altLang="ja-JP" sz="2400" dirty="0"/>
          </a:p>
          <a:p>
            <a:endParaRPr kumimoji="1" lang="ja-JP" altLang="en-US" sz="2400" dirty="0"/>
          </a:p>
          <a:p>
            <a:r>
              <a:rPr kumimoji="1" lang="ja-JP" altLang="en-US" sz="2400" dirty="0"/>
              <a:t>２．その端点を仮想ノードの</a:t>
            </a:r>
            <a:endParaRPr kumimoji="1" lang="en-US" altLang="ja-JP" sz="2400" dirty="0"/>
          </a:p>
          <a:p>
            <a:r>
              <a:rPr kumimoji="1" lang="ja-JP" altLang="en-US" sz="2400" dirty="0"/>
              <a:t>割当候補にする</a:t>
            </a:r>
            <a:endParaRPr kumimoji="1" lang="en-US" altLang="ja-JP" sz="2400" dirty="0"/>
          </a:p>
          <a:p>
            <a:endParaRPr kumimoji="1" lang="en-US" altLang="ja-JP" sz="2400" dirty="0"/>
          </a:p>
          <a:p>
            <a:r>
              <a:rPr kumimoji="1" lang="ja-JP" altLang="en-US" sz="2400" dirty="0"/>
              <a:t>３．候補の中から</a:t>
            </a:r>
            <a:r>
              <a:rPr kumimoji="1" lang="en-US" altLang="ja-JP" sz="2400" dirty="0"/>
              <a:t>CPU</a:t>
            </a:r>
            <a:r>
              <a:rPr kumimoji="1" lang="ja-JP" altLang="en-US" sz="2400" dirty="0"/>
              <a:t>資源が最大の</a:t>
            </a:r>
            <a:endParaRPr kumimoji="1" lang="en-US" altLang="ja-JP" sz="2400" dirty="0"/>
          </a:p>
          <a:p>
            <a:r>
              <a:rPr kumimoji="1" lang="ja-JP" altLang="en-US" sz="2400" dirty="0"/>
              <a:t>物理ノードを選ぶ</a:t>
            </a:r>
            <a:endParaRPr kumimoji="1" lang="en-US" altLang="ja-JP" sz="2400" dirty="0"/>
          </a:p>
          <a:p>
            <a:endParaRPr kumimoji="1" lang="ja-JP" altLang="en-US" sz="2400" dirty="0"/>
          </a:p>
        </p:txBody>
      </p:sp>
      <p:sp>
        <p:nvSpPr>
          <p:cNvPr id="6" name="テキスト ボックス 5">
            <a:extLst>
              <a:ext uri="{FF2B5EF4-FFF2-40B4-BE49-F238E27FC236}">
                <a16:creationId xmlns:a16="http://schemas.microsoft.com/office/drawing/2014/main" id="{085E510F-9912-3305-6274-8D231B5EEC0F}"/>
              </a:ext>
            </a:extLst>
          </p:cNvPr>
          <p:cNvSpPr txBox="1"/>
          <p:nvPr/>
        </p:nvSpPr>
        <p:spPr>
          <a:xfrm>
            <a:off x="6096000" y="2349541"/>
            <a:ext cx="6219198" cy="3046988"/>
          </a:xfrm>
          <a:prstGeom prst="rect">
            <a:avLst/>
          </a:prstGeom>
          <a:noFill/>
        </p:spPr>
        <p:txBody>
          <a:bodyPr wrap="square" rtlCol="0">
            <a:spAutoFit/>
          </a:bodyPr>
          <a:lstStyle/>
          <a:p>
            <a:r>
              <a:rPr kumimoji="1" lang="ja-JP" altLang="en-US" sz="2400" dirty="0"/>
              <a:t>１．</a:t>
            </a:r>
            <a:r>
              <a:rPr kumimoji="1" lang="en-US" altLang="ja-JP" sz="2400" dirty="0"/>
              <a:t>CPU</a:t>
            </a:r>
            <a:r>
              <a:rPr kumimoji="1" lang="ja-JP" altLang="en-US" sz="2400" dirty="0"/>
              <a:t>需要を満たす物理ノードを</a:t>
            </a:r>
            <a:endParaRPr kumimoji="1" lang="en-US" altLang="ja-JP" sz="2400" dirty="0"/>
          </a:p>
          <a:p>
            <a:r>
              <a:rPr kumimoji="1" lang="ja-JP" altLang="en-US" sz="2400" dirty="0"/>
              <a:t>候補にする</a:t>
            </a:r>
            <a:endParaRPr kumimoji="1" lang="en-US" altLang="ja-JP" sz="2400" dirty="0"/>
          </a:p>
          <a:p>
            <a:endParaRPr kumimoji="1" lang="ja-JP" altLang="en-US" sz="2400" dirty="0"/>
          </a:p>
          <a:p>
            <a:r>
              <a:rPr kumimoji="1" lang="ja-JP" altLang="en-US" sz="2400" dirty="0"/>
              <a:t>２．接続する物理リンクの残余帯域を</a:t>
            </a:r>
            <a:endParaRPr kumimoji="1" lang="en-US" altLang="ja-JP" sz="2400" dirty="0"/>
          </a:p>
          <a:p>
            <a:r>
              <a:rPr kumimoji="1" lang="ja-JP" altLang="en-US" sz="2400" dirty="0"/>
              <a:t>評価</a:t>
            </a:r>
            <a:endParaRPr kumimoji="1" lang="en-US" altLang="ja-JP" sz="2400" dirty="0"/>
          </a:p>
          <a:p>
            <a:endParaRPr kumimoji="1" lang="ja-JP" altLang="en-US" sz="2400" dirty="0"/>
          </a:p>
          <a:p>
            <a:r>
              <a:rPr kumimoji="1" lang="ja-JP" altLang="en-US" sz="2400" dirty="0"/>
              <a:t>３．残余帯域合計が最大の物理ノード</a:t>
            </a:r>
            <a:endParaRPr kumimoji="1" lang="en-US" altLang="ja-JP" sz="2400" dirty="0"/>
          </a:p>
          <a:p>
            <a:r>
              <a:rPr kumimoji="1" lang="ja-JP" altLang="en-US" sz="2400" dirty="0"/>
              <a:t>を選ぶ</a:t>
            </a:r>
          </a:p>
        </p:txBody>
      </p:sp>
      <p:sp>
        <p:nvSpPr>
          <p:cNvPr id="7" name="テキスト ボックス 6">
            <a:extLst>
              <a:ext uri="{FF2B5EF4-FFF2-40B4-BE49-F238E27FC236}">
                <a16:creationId xmlns:a16="http://schemas.microsoft.com/office/drawing/2014/main" id="{2B0837FF-28C0-BFBA-2CCF-94C44D3EC9AA}"/>
              </a:ext>
            </a:extLst>
          </p:cNvPr>
          <p:cNvSpPr txBox="1"/>
          <p:nvPr/>
        </p:nvSpPr>
        <p:spPr>
          <a:xfrm>
            <a:off x="7656947" y="1664420"/>
            <a:ext cx="2800942" cy="707886"/>
          </a:xfrm>
          <a:prstGeom prst="rect">
            <a:avLst/>
          </a:prstGeom>
          <a:noFill/>
        </p:spPr>
        <p:txBody>
          <a:bodyPr wrap="square" rtlCol="0">
            <a:spAutoFit/>
          </a:bodyPr>
          <a:lstStyle/>
          <a:p>
            <a:r>
              <a:rPr lang="ja-JP" altLang="en-US" sz="4000" dirty="0">
                <a:solidFill>
                  <a:srgbClr val="0B3E8D"/>
                </a:solidFill>
              </a:rPr>
              <a:t>寺生手法</a:t>
            </a:r>
            <a:endParaRPr kumimoji="1" lang="ja-JP" altLang="en-US" sz="4000" dirty="0">
              <a:solidFill>
                <a:srgbClr val="0B3E8D"/>
              </a:solidFill>
            </a:endParaRPr>
          </a:p>
        </p:txBody>
      </p:sp>
      <p:sp>
        <p:nvSpPr>
          <p:cNvPr id="11" name="テキスト ボックス 10">
            <a:extLst>
              <a:ext uri="{FF2B5EF4-FFF2-40B4-BE49-F238E27FC236}">
                <a16:creationId xmlns:a16="http://schemas.microsoft.com/office/drawing/2014/main" id="{A626488D-CA14-D5E6-7DDD-0A6803DE573F}"/>
              </a:ext>
            </a:extLst>
          </p:cNvPr>
          <p:cNvSpPr txBox="1"/>
          <p:nvPr/>
        </p:nvSpPr>
        <p:spPr>
          <a:xfrm>
            <a:off x="614432" y="5555672"/>
            <a:ext cx="8765309" cy="1200329"/>
          </a:xfrm>
          <a:prstGeom prst="rect">
            <a:avLst/>
          </a:prstGeom>
          <a:noFill/>
        </p:spPr>
        <p:txBody>
          <a:bodyPr wrap="square">
            <a:spAutoFit/>
          </a:bodyPr>
          <a:lstStyle/>
          <a:p>
            <a:r>
              <a:rPr lang="ja-JP" altLang="en-US" sz="2400" dirty="0"/>
              <a:t>共通点：仮想リンクはダイクストラ法で割り当てる。</a:t>
            </a:r>
            <a:endParaRPr lang="en-US" altLang="ja-JP" sz="2400" dirty="0"/>
          </a:p>
          <a:p>
            <a:r>
              <a:rPr lang="ja-JP" altLang="en-US" sz="2400" dirty="0">
                <a:solidFill>
                  <a:srgbClr val="F17C1D"/>
                </a:solidFill>
              </a:rPr>
              <a:t>相違点</a:t>
            </a:r>
            <a:r>
              <a:rPr lang="ja-JP" altLang="en-US" sz="2400" dirty="0"/>
              <a:t>：仮想ノードの割り当て方</a:t>
            </a:r>
            <a:endParaRPr lang="en-US" altLang="ja-JP" sz="2400" dirty="0"/>
          </a:p>
          <a:p>
            <a:r>
              <a:rPr lang="ja-JP" altLang="en-US" sz="2400" dirty="0"/>
              <a:t>比較対象手法を使用し実験を行っていく</a:t>
            </a:r>
          </a:p>
        </p:txBody>
      </p:sp>
      <p:sp>
        <p:nvSpPr>
          <p:cNvPr id="8" name="正方形/長方形 7">
            <a:extLst>
              <a:ext uri="{FF2B5EF4-FFF2-40B4-BE49-F238E27FC236}">
                <a16:creationId xmlns:a16="http://schemas.microsoft.com/office/drawing/2014/main" id="{5BCC22AD-4C47-F521-E051-89DD30170E5C}"/>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0" name="正方形/長方形 9">
            <a:extLst>
              <a:ext uri="{FF2B5EF4-FFF2-40B4-BE49-F238E27FC236}">
                <a16:creationId xmlns:a16="http://schemas.microsoft.com/office/drawing/2014/main" id="{409C692A-B402-36BF-1644-4419082BC285}"/>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Tree>
    <p:extLst>
      <p:ext uri="{BB962C8B-B14F-4D97-AF65-F5344CB8AC3E}">
        <p14:creationId xmlns:p14="http://schemas.microsoft.com/office/powerpoint/2010/main" val="593123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6CD1E7D5-2996-6104-5B12-1E43F7A6613B}"/>
              </a:ext>
            </a:extLst>
          </p:cNvPr>
          <p:cNvSpPr/>
          <p:nvPr/>
        </p:nvSpPr>
        <p:spPr>
          <a:xfrm>
            <a:off x="5648037" y="2398197"/>
            <a:ext cx="3635676" cy="1295190"/>
          </a:xfrm>
          <a:prstGeom prst="rect">
            <a:avLst/>
          </a:prstGeom>
          <a:solidFill>
            <a:srgbClr val="F17C1D">
              <a:alpha val="1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0F7C86"/>
              </a:solidFill>
            </a:endParaRPr>
          </a:p>
        </p:txBody>
      </p:sp>
      <p:sp>
        <p:nvSpPr>
          <p:cNvPr id="17" name="正方形/長方形 16">
            <a:extLst>
              <a:ext uri="{FF2B5EF4-FFF2-40B4-BE49-F238E27FC236}">
                <a16:creationId xmlns:a16="http://schemas.microsoft.com/office/drawing/2014/main" id="{EFB273D9-714B-C717-1817-496B0933A0BB}"/>
              </a:ext>
            </a:extLst>
          </p:cNvPr>
          <p:cNvSpPr/>
          <p:nvPr/>
        </p:nvSpPr>
        <p:spPr>
          <a:xfrm>
            <a:off x="275924" y="3267788"/>
            <a:ext cx="3971734" cy="851199"/>
          </a:xfrm>
          <a:prstGeom prst="rect">
            <a:avLst/>
          </a:prstGeom>
          <a:solidFill>
            <a:srgbClr val="A1EDF5">
              <a:alpha val="1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0F7C86"/>
              </a:solidFill>
            </a:endParaRPr>
          </a:p>
        </p:txBody>
      </p:sp>
      <p:sp>
        <p:nvSpPr>
          <p:cNvPr id="11" name="正方形/長方形 10">
            <a:extLst>
              <a:ext uri="{FF2B5EF4-FFF2-40B4-BE49-F238E27FC236}">
                <a16:creationId xmlns:a16="http://schemas.microsoft.com/office/drawing/2014/main" id="{DF4F3064-974A-A855-3E0C-A144E963FDED}"/>
              </a:ext>
            </a:extLst>
          </p:cNvPr>
          <p:cNvSpPr/>
          <p:nvPr/>
        </p:nvSpPr>
        <p:spPr>
          <a:xfrm>
            <a:off x="279313" y="1833758"/>
            <a:ext cx="4001803" cy="851199"/>
          </a:xfrm>
          <a:prstGeom prst="rect">
            <a:avLst/>
          </a:prstGeom>
          <a:solidFill>
            <a:srgbClr val="A1EDF5">
              <a:alpha val="1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0F7C86"/>
              </a:solidFill>
            </a:endParaRPr>
          </a:p>
        </p:txBody>
      </p:sp>
      <p:sp>
        <p:nvSpPr>
          <p:cNvPr id="2" name="タイトル 1">
            <a:extLst>
              <a:ext uri="{FF2B5EF4-FFF2-40B4-BE49-F238E27FC236}">
                <a16:creationId xmlns:a16="http://schemas.microsoft.com/office/drawing/2014/main" id="{3DAF6DD2-B499-9649-D0A1-E7EA38162FE4}"/>
              </a:ext>
            </a:extLst>
          </p:cNvPr>
          <p:cNvSpPr>
            <a:spLocks noGrp="1"/>
          </p:cNvSpPr>
          <p:nvPr>
            <p:ph type="title"/>
          </p:nvPr>
        </p:nvSpPr>
        <p:spPr>
          <a:xfrm>
            <a:off x="378592" y="381444"/>
            <a:ext cx="2789481" cy="1325563"/>
          </a:xfrm>
        </p:spPr>
        <p:txBody>
          <a:bodyPr/>
          <a:lstStyle/>
          <a:p>
            <a:r>
              <a:rPr lang="ja-JP" altLang="ja-JP" b="1" dirty="0">
                <a:solidFill>
                  <a:srgbClr val="113160"/>
                </a:solidFill>
              </a:rPr>
              <a:t>ALEVIN</a:t>
            </a:r>
            <a:r>
              <a:rPr lang="en-US" altLang="ja-JP" b="1" dirty="0">
                <a:solidFill>
                  <a:srgbClr val="113160"/>
                </a:solidFill>
              </a:rPr>
              <a:t>[1]</a:t>
            </a:r>
            <a:endParaRPr kumimoji="1" lang="ja-JP" altLang="en-US" b="1" dirty="0">
              <a:solidFill>
                <a:srgbClr val="113160"/>
              </a:solidFill>
            </a:endParaRPr>
          </a:p>
        </p:txBody>
      </p:sp>
      <p:sp>
        <p:nvSpPr>
          <p:cNvPr id="3" name="コンテンツ プレースホルダー 2">
            <a:extLst>
              <a:ext uri="{FF2B5EF4-FFF2-40B4-BE49-F238E27FC236}">
                <a16:creationId xmlns:a16="http://schemas.microsoft.com/office/drawing/2014/main" id="{744AB1D9-871E-75F6-78A7-656C18620C59}"/>
              </a:ext>
            </a:extLst>
          </p:cNvPr>
          <p:cNvSpPr>
            <a:spLocks noGrp="1"/>
          </p:cNvSpPr>
          <p:nvPr>
            <p:ph idx="1"/>
          </p:nvPr>
        </p:nvSpPr>
        <p:spPr>
          <a:xfrm>
            <a:off x="237774" y="2065048"/>
            <a:ext cx="4185277" cy="622011"/>
          </a:xfrm>
        </p:spPr>
        <p:txBody>
          <a:bodyPr/>
          <a:lstStyle/>
          <a:p>
            <a:pPr marL="0" indent="0">
              <a:buNone/>
            </a:pPr>
            <a:r>
              <a:rPr lang="ja-JP" altLang="ja-JP" b="1" dirty="0">
                <a:solidFill>
                  <a:srgbClr val="08464C"/>
                </a:solidFill>
              </a:rPr>
              <a:t>二ノ宮ノードマッピング</a:t>
            </a:r>
            <a:endParaRPr kumimoji="1" lang="ja-JP" altLang="en-US" b="1" dirty="0">
              <a:solidFill>
                <a:srgbClr val="08464C"/>
              </a:solidFill>
            </a:endParaRPr>
          </a:p>
        </p:txBody>
      </p:sp>
      <p:sp>
        <p:nvSpPr>
          <p:cNvPr id="4" name="コンテンツ プレースホルダー 2">
            <a:extLst>
              <a:ext uri="{FF2B5EF4-FFF2-40B4-BE49-F238E27FC236}">
                <a16:creationId xmlns:a16="http://schemas.microsoft.com/office/drawing/2014/main" id="{84718A3A-F332-3540-BA89-2EF1D66479F2}"/>
              </a:ext>
            </a:extLst>
          </p:cNvPr>
          <p:cNvSpPr txBox="1">
            <a:spLocks/>
          </p:cNvSpPr>
          <p:nvPr/>
        </p:nvSpPr>
        <p:spPr>
          <a:xfrm>
            <a:off x="370413" y="3478356"/>
            <a:ext cx="4204855" cy="6220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solidFill>
                  <a:srgbClr val="08464C"/>
                </a:solidFill>
              </a:rPr>
              <a:t>寺生</a:t>
            </a:r>
            <a:r>
              <a:rPr lang="ja-JP" altLang="ja-JP" b="1" dirty="0">
                <a:solidFill>
                  <a:srgbClr val="08464C"/>
                </a:solidFill>
              </a:rPr>
              <a:t>ノードマッピング</a:t>
            </a:r>
            <a:endParaRPr lang="ja-JP" altLang="en-US" b="1" dirty="0">
              <a:solidFill>
                <a:srgbClr val="08464C"/>
              </a:solidFill>
            </a:endParaRPr>
          </a:p>
        </p:txBody>
      </p:sp>
      <p:sp>
        <p:nvSpPr>
          <p:cNvPr id="6" name="コンテンツ プレースホルダー 2">
            <a:extLst>
              <a:ext uri="{FF2B5EF4-FFF2-40B4-BE49-F238E27FC236}">
                <a16:creationId xmlns:a16="http://schemas.microsoft.com/office/drawing/2014/main" id="{A1ABD741-866B-C9E7-F07C-1419F32D50BD}"/>
              </a:ext>
            </a:extLst>
          </p:cNvPr>
          <p:cNvSpPr txBox="1">
            <a:spLocks/>
          </p:cNvSpPr>
          <p:nvPr/>
        </p:nvSpPr>
        <p:spPr>
          <a:xfrm>
            <a:off x="5648037" y="2577262"/>
            <a:ext cx="3840018" cy="11507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solidFill>
                  <a:srgbClr val="08464C"/>
                </a:solidFill>
              </a:rPr>
              <a:t>共通リンク</a:t>
            </a:r>
            <a:r>
              <a:rPr lang="ja-JP" altLang="ja-JP" b="1" dirty="0">
                <a:solidFill>
                  <a:srgbClr val="08464C"/>
                </a:solidFill>
              </a:rPr>
              <a:t>マッピング</a:t>
            </a:r>
            <a:endParaRPr lang="en-US" altLang="ja-JP" b="1" dirty="0">
              <a:solidFill>
                <a:srgbClr val="08464C"/>
              </a:solidFill>
            </a:endParaRPr>
          </a:p>
          <a:p>
            <a:pPr marL="0" indent="0">
              <a:buFont typeface="Arial" panose="020B0604020202020204" pitchFamily="34" charset="0"/>
              <a:buNone/>
            </a:pPr>
            <a:r>
              <a:rPr lang="ja-JP" altLang="en-US" b="1" dirty="0">
                <a:solidFill>
                  <a:srgbClr val="08464C"/>
                </a:solidFill>
              </a:rPr>
              <a:t>（ダイクストラ法）</a:t>
            </a:r>
            <a:endParaRPr lang="en-US" altLang="ja-JP" b="1" dirty="0">
              <a:solidFill>
                <a:srgbClr val="08464C"/>
              </a:solidFill>
            </a:endParaRPr>
          </a:p>
        </p:txBody>
      </p:sp>
      <p:sp>
        <p:nvSpPr>
          <p:cNvPr id="7" name="テキスト ボックス 6">
            <a:extLst>
              <a:ext uri="{FF2B5EF4-FFF2-40B4-BE49-F238E27FC236}">
                <a16:creationId xmlns:a16="http://schemas.microsoft.com/office/drawing/2014/main" id="{CB75EA7B-1E60-92C4-F782-13FADD1B4676}"/>
              </a:ext>
            </a:extLst>
          </p:cNvPr>
          <p:cNvSpPr txBox="1"/>
          <p:nvPr/>
        </p:nvSpPr>
        <p:spPr>
          <a:xfrm>
            <a:off x="10641445" y="2929892"/>
            <a:ext cx="1256145" cy="646331"/>
          </a:xfrm>
          <a:prstGeom prst="rect">
            <a:avLst/>
          </a:prstGeom>
          <a:noFill/>
        </p:spPr>
        <p:txBody>
          <a:bodyPr wrap="square" rtlCol="0">
            <a:spAutoFit/>
          </a:bodyPr>
          <a:lstStyle/>
          <a:p>
            <a:r>
              <a:rPr kumimoji="1" lang="ja-JP" altLang="en-US" sz="3600" b="1" dirty="0">
                <a:solidFill>
                  <a:srgbClr val="08464C"/>
                </a:solidFill>
              </a:rPr>
              <a:t>評価</a:t>
            </a:r>
          </a:p>
        </p:txBody>
      </p:sp>
      <p:sp>
        <p:nvSpPr>
          <p:cNvPr id="8" name="矢印: 右 7">
            <a:extLst>
              <a:ext uri="{FF2B5EF4-FFF2-40B4-BE49-F238E27FC236}">
                <a16:creationId xmlns:a16="http://schemas.microsoft.com/office/drawing/2014/main" id="{DAAA40C4-C4DC-9E46-0466-8E69F7927D2E}"/>
              </a:ext>
            </a:extLst>
          </p:cNvPr>
          <p:cNvSpPr/>
          <p:nvPr/>
        </p:nvSpPr>
        <p:spPr>
          <a:xfrm>
            <a:off x="4420818" y="2012988"/>
            <a:ext cx="1158008" cy="539390"/>
          </a:xfrm>
          <a:prstGeom prst="rightArrow">
            <a:avLst/>
          </a:prstGeom>
          <a:solidFill>
            <a:srgbClr val="0F7C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8C35A99F-E09D-C5EA-445D-02B12189849F}"/>
              </a:ext>
            </a:extLst>
          </p:cNvPr>
          <p:cNvSpPr/>
          <p:nvPr/>
        </p:nvSpPr>
        <p:spPr>
          <a:xfrm>
            <a:off x="9615056" y="2983363"/>
            <a:ext cx="812798" cy="445637"/>
          </a:xfrm>
          <a:prstGeom prst="rightArrow">
            <a:avLst/>
          </a:prstGeom>
          <a:solidFill>
            <a:srgbClr val="0F7C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E79F461A-8472-B9EA-E4B1-379797DA2EE8}"/>
              </a:ext>
            </a:extLst>
          </p:cNvPr>
          <p:cNvSpPr txBox="1"/>
          <p:nvPr/>
        </p:nvSpPr>
        <p:spPr>
          <a:xfrm>
            <a:off x="143728" y="4244856"/>
            <a:ext cx="11154063" cy="2985433"/>
          </a:xfrm>
          <a:prstGeom prst="rect">
            <a:avLst/>
          </a:prstGeom>
          <a:noFill/>
        </p:spPr>
        <p:txBody>
          <a:bodyPr wrap="square" rtlCol="0">
            <a:spAutoFit/>
          </a:bodyPr>
          <a:lstStyle/>
          <a:p>
            <a:r>
              <a:rPr kumimoji="1" lang="en-US" altLang="ja-JP" sz="2400" dirty="0"/>
              <a:t>2</a:t>
            </a:r>
            <a:r>
              <a:rPr kumimoji="1" lang="ja-JP" altLang="en-US" sz="2400" dirty="0"/>
              <a:t>手法を</a:t>
            </a:r>
            <a:r>
              <a:rPr kumimoji="1" lang="en-US" altLang="ja-JP" sz="2400" dirty="0"/>
              <a:t>ALEVIN</a:t>
            </a:r>
            <a:r>
              <a:rPr kumimoji="1" lang="ja-JP" altLang="en-US" sz="2400" dirty="0"/>
              <a:t>上で動作するノードマッピングとして実装</a:t>
            </a:r>
          </a:p>
          <a:p>
            <a:r>
              <a:rPr kumimoji="1" lang="ja-JP" altLang="en-US" sz="2400" dirty="0"/>
              <a:t>ダイクストラリンクマッピングを実装し，</a:t>
            </a:r>
            <a:endParaRPr kumimoji="1" lang="en-US" altLang="ja-JP" sz="2400" dirty="0"/>
          </a:p>
          <a:p>
            <a:r>
              <a:rPr kumimoji="1" lang="ja-JP" altLang="en-US" sz="2400" dirty="0"/>
              <a:t>統一したリンクマッピングでノード選択方法の違いを比較</a:t>
            </a:r>
            <a:endParaRPr kumimoji="1" lang="en-US" altLang="ja-JP" sz="2400" dirty="0"/>
          </a:p>
          <a:p>
            <a:endParaRPr lang="en-US" altLang="ja-JP" sz="2400" dirty="0"/>
          </a:p>
          <a:p>
            <a:endParaRPr lang="en-US" altLang="ja-JP" sz="2400" dirty="0"/>
          </a:p>
          <a:p>
            <a:endParaRPr lang="en-US" altLang="ja-JP" sz="2400" dirty="0"/>
          </a:p>
          <a:p>
            <a:r>
              <a:rPr lang="en-US" altLang="ja-JP" sz="1000" dirty="0"/>
              <a:t>[1]A. Fischer, J.F. Botero, M. </a:t>
            </a:r>
            <a:r>
              <a:rPr lang="en-US" altLang="ja-JP" sz="1000" dirty="0" err="1"/>
              <a:t>Duelli</a:t>
            </a:r>
            <a:r>
              <a:rPr lang="en-US" altLang="ja-JP" sz="1000" dirty="0"/>
              <a:t>, D. Schlosser, X. </a:t>
            </a:r>
            <a:r>
              <a:rPr lang="en-US" altLang="ja-JP" sz="1000" dirty="0" err="1"/>
              <a:t>Hes-selbach</a:t>
            </a:r>
            <a:r>
              <a:rPr lang="en-US" altLang="ja-JP" sz="1000" dirty="0"/>
              <a:t>, and H. de Meer, “ALEVIN—a framework </a:t>
            </a:r>
            <a:r>
              <a:rPr lang="en-US" altLang="ja-JP" sz="1000" dirty="0" err="1"/>
              <a:t>todevelop</a:t>
            </a:r>
            <a:r>
              <a:rPr lang="en-US" altLang="ja-JP" sz="1000" dirty="0"/>
              <a:t>, compare, and analyze virtual network embed-ding algorithms,” Electronic Communications of </a:t>
            </a:r>
            <a:r>
              <a:rPr lang="en-US" altLang="ja-JP" sz="1000" dirty="0" err="1"/>
              <a:t>theEASST</a:t>
            </a:r>
            <a:r>
              <a:rPr lang="en-US" altLang="ja-JP" sz="1000" dirty="0"/>
              <a:t>, vol.37, pp.1–12, 2011.</a:t>
            </a:r>
            <a:endParaRPr kumimoji="1" lang="ja-JP" altLang="en-US" sz="1000" dirty="0"/>
          </a:p>
          <a:p>
            <a:endParaRPr kumimoji="1" lang="ja-JP" altLang="en-US" sz="2400" dirty="0"/>
          </a:p>
        </p:txBody>
      </p:sp>
      <p:sp>
        <p:nvSpPr>
          <p:cNvPr id="10" name="正方形/長方形 9">
            <a:extLst>
              <a:ext uri="{FF2B5EF4-FFF2-40B4-BE49-F238E27FC236}">
                <a16:creationId xmlns:a16="http://schemas.microsoft.com/office/drawing/2014/main" id="{48E800B2-DBBC-7EF7-A406-CC47137826ED}"/>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22" name="正方形/長方形 21">
            <a:extLst>
              <a:ext uri="{FF2B5EF4-FFF2-40B4-BE49-F238E27FC236}">
                <a16:creationId xmlns:a16="http://schemas.microsoft.com/office/drawing/2014/main" id="{088E8D04-3295-4565-829F-15F1BF0C27B9}"/>
              </a:ext>
            </a:extLst>
          </p:cNvPr>
          <p:cNvSpPr/>
          <p:nvPr/>
        </p:nvSpPr>
        <p:spPr>
          <a:xfrm>
            <a:off x="10587330" y="2812928"/>
            <a:ext cx="1256146" cy="851199"/>
          </a:xfrm>
          <a:prstGeom prst="rect">
            <a:avLst/>
          </a:prstGeom>
          <a:solidFill>
            <a:srgbClr val="A1EDF5">
              <a:alpha val="1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0F7C86"/>
              </a:solidFill>
            </a:endParaRPr>
          </a:p>
        </p:txBody>
      </p:sp>
      <p:sp>
        <p:nvSpPr>
          <p:cNvPr id="13" name="正方形/長方形 12">
            <a:extLst>
              <a:ext uri="{FF2B5EF4-FFF2-40B4-BE49-F238E27FC236}">
                <a16:creationId xmlns:a16="http://schemas.microsoft.com/office/drawing/2014/main" id="{95C26C93-3A7F-D1AA-90B6-F3BEEE2DFE17}"/>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4" name="矢印: 右 13">
            <a:extLst>
              <a:ext uri="{FF2B5EF4-FFF2-40B4-BE49-F238E27FC236}">
                <a16:creationId xmlns:a16="http://schemas.microsoft.com/office/drawing/2014/main" id="{19E43B8F-CCCE-CCB0-9EC8-948B6AE93DD4}"/>
              </a:ext>
            </a:extLst>
          </p:cNvPr>
          <p:cNvSpPr/>
          <p:nvPr/>
        </p:nvSpPr>
        <p:spPr>
          <a:xfrm>
            <a:off x="4419062" y="3499298"/>
            <a:ext cx="1158008" cy="539390"/>
          </a:xfrm>
          <a:prstGeom prst="rightArrow">
            <a:avLst/>
          </a:prstGeom>
          <a:solidFill>
            <a:srgbClr val="0F7C8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5390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6604F-A9D4-557E-71DE-381733257D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683F31-F15D-9583-EB20-1A337E735B03}"/>
              </a:ext>
            </a:extLst>
          </p:cNvPr>
          <p:cNvSpPr>
            <a:spLocks noGrp="1"/>
          </p:cNvSpPr>
          <p:nvPr>
            <p:ph type="title"/>
          </p:nvPr>
        </p:nvSpPr>
        <p:spPr>
          <a:xfrm>
            <a:off x="378593" y="381444"/>
            <a:ext cx="2052782" cy="1325563"/>
          </a:xfrm>
        </p:spPr>
        <p:txBody>
          <a:bodyPr/>
          <a:lstStyle/>
          <a:p>
            <a:r>
              <a:rPr lang="ja-JP" altLang="ja-JP" b="1" dirty="0">
                <a:solidFill>
                  <a:srgbClr val="113160"/>
                </a:solidFill>
              </a:rPr>
              <a:t>ALEVIN</a:t>
            </a:r>
            <a:endParaRPr kumimoji="1" lang="ja-JP" altLang="en-US" b="1" dirty="0">
              <a:solidFill>
                <a:srgbClr val="113160"/>
              </a:solidFill>
            </a:endParaRPr>
          </a:p>
        </p:txBody>
      </p:sp>
      <p:sp>
        <p:nvSpPr>
          <p:cNvPr id="10" name="正方形/長方形 9">
            <a:extLst>
              <a:ext uri="{FF2B5EF4-FFF2-40B4-BE49-F238E27FC236}">
                <a16:creationId xmlns:a16="http://schemas.microsoft.com/office/drawing/2014/main" id="{03D8B7E9-F24D-0974-7C4F-3A365678FA67}"/>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3" name="正方形/長方形 12">
            <a:extLst>
              <a:ext uri="{FF2B5EF4-FFF2-40B4-BE49-F238E27FC236}">
                <a16:creationId xmlns:a16="http://schemas.microsoft.com/office/drawing/2014/main" id="{F3AD0365-4AB9-E006-5B3C-644829D56F8F}"/>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5" name="コンテンツ プレースホルダー 14">
            <a:extLst>
              <a:ext uri="{FF2B5EF4-FFF2-40B4-BE49-F238E27FC236}">
                <a16:creationId xmlns:a16="http://schemas.microsoft.com/office/drawing/2014/main" id="{6E5AE61C-01B2-90BB-6105-109982A0578E}"/>
              </a:ext>
            </a:extLst>
          </p:cNvPr>
          <p:cNvSpPr>
            <a:spLocks noGrp="1"/>
          </p:cNvSpPr>
          <p:nvPr>
            <p:ph idx="1"/>
          </p:nvPr>
        </p:nvSpPr>
        <p:spPr>
          <a:xfrm>
            <a:off x="378593" y="1603952"/>
            <a:ext cx="2272243" cy="436663"/>
          </a:xfrm>
        </p:spPr>
        <p:txBody>
          <a:bodyPr>
            <a:normAutofit fontScale="92500" lnSpcReduction="10000"/>
          </a:bodyPr>
          <a:lstStyle/>
          <a:p>
            <a:r>
              <a:rPr lang="ja-JP" altLang="en-US" dirty="0"/>
              <a:t>実際の動画</a:t>
            </a:r>
          </a:p>
        </p:txBody>
      </p:sp>
    </p:spTree>
    <p:extLst>
      <p:ext uri="{BB962C8B-B14F-4D97-AF65-F5344CB8AC3E}">
        <p14:creationId xmlns:p14="http://schemas.microsoft.com/office/powerpoint/2010/main" val="3738310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76A8EF-8804-146A-B477-4D0FF14B9005}"/>
              </a:ext>
            </a:extLst>
          </p:cNvPr>
          <p:cNvSpPr>
            <a:spLocks noGrp="1"/>
          </p:cNvSpPr>
          <p:nvPr>
            <p:ph type="title"/>
          </p:nvPr>
        </p:nvSpPr>
        <p:spPr>
          <a:xfrm>
            <a:off x="275924" y="344137"/>
            <a:ext cx="10515600" cy="1325563"/>
          </a:xfrm>
        </p:spPr>
        <p:txBody>
          <a:bodyPr/>
          <a:lstStyle/>
          <a:p>
            <a:r>
              <a:rPr lang="ja-JP" altLang="ja-JP" b="1" dirty="0">
                <a:solidFill>
                  <a:srgbClr val="113160"/>
                </a:solidFill>
              </a:rPr>
              <a:t>実験条件</a:t>
            </a:r>
            <a:endParaRPr kumimoji="1" lang="ja-JP" altLang="en-US" b="1" dirty="0">
              <a:solidFill>
                <a:srgbClr val="113160"/>
              </a:solidFill>
            </a:endParaRPr>
          </a:p>
        </p:txBody>
      </p:sp>
      <p:sp>
        <p:nvSpPr>
          <p:cNvPr id="3" name="コンテンツ プレースホルダー 2">
            <a:extLst>
              <a:ext uri="{FF2B5EF4-FFF2-40B4-BE49-F238E27FC236}">
                <a16:creationId xmlns:a16="http://schemas.microsoft.com/office/drawing/2014/main" id="{6121B6F5-E7A5-BD20-1F32-5474DB2F6756}"/>
              </a:ext>
            </a:extLst>
          </p:cNvPr>
          <p:cNvSpPr>
            <a:spLocks noGrp="1"/>
          </p:cNvSpPr>
          <p:nvPr>
            <p:ph idx="1"/>
          </p:nvPr>
        </p:nvSpPr>
        <p:spPr>
          <a:xfrm>
            <a:off x="865908" y="2380242"/>
            <a:ext cx="9404927" cy="3531466"/>
          </a:xfrm>
        </p:spPr>
        <p:txBody>
          <a:bodyPr>
            <a:normAutofit lnSpcReduction="10000"/>
          </a:bodyPr>
          <a:lstStyle/>
          <a:p>
            <a:pPr lvl="0"/>
            <a:r>
              <a:rPr lang="ja-JP" altLang="en-US" dirty="0"/>
              <a:t>物理ノード数：</a:t>
            </a:r>
            <a:r>
              <a:rPr lang="en-US" altLang="ja-JP" dirty="0"/>
              <a:t>40</a:t>
            </a:r>
            <a:r>
              <a:rPr lang="ja-JP" altLang="en-US" dirty="0"/>
              <a:t>，</a:t>
            </a:r>
            <a:r>
              <a:rPr lang="en-US" altLang="ja-JP" dirty="0"/>
              <a:t>60</a:t>
            </a:r>
            <a:r>
              <a:rPr lang="ja-JP" altLang="en-US" dirty="0"/>
              <a:t>，</a:t>
            </a:r>
            <a:r>
              <a:rPr lang="en-US" altLang="ja-JP" dirty="0"/>
              <a:t>80</a:t>
            </a:r>
          </a:p>
          <a:p>
            <a:pPr lvl="0"/>
            <a:r>
              <a:rPr lang="en-US" altLang="ja-JP" dirty="0"/>
              <a:t>VN</a:t>
            </a:r>
            <a:r>
              <a:rPr lang="ja-JP" altLang="en-US" dirty="0"/>
              <a:t>要求数：</a:t>
            </a:r>
            <a:r>
              <a:rPr lang="en-US" altLang="ja-JP" dirty="0"/>
              <a:t>10</a:t>
            </a:r>
          </a:p>
          <a:p>
            <a:pPr lvl="0"/>
            <a:r>
              <a:rPr lang="en-US" altLang="ja-JP" dirty="0"/>
              <a:t>VN</a:t>
            </a:r>
            <a:r>
              <a:rPr lang="ja-JP" altLang="en-US" dirty="0"/>
              <a:t>要求総ノード数：</a:t>
            </a:r>
            <a:r>
              <a:rPr lang="en-US" altLang="ja-JP" dirty="0"/>
              <a:t>20</a:t>
            </a:r>
            <a:r>
              <a:rPr lang="ja-JP" altLang="en-US" dirty="0"/>
              <a:t>，</a:t>
            </a:r>
            <a:r>
              <a:rPr lang="en-US" altLang="ja-JP" dirty="0"/>
              <a:t>30</a:t>
            </a:r>
            <a:r>
              <a:rPr lang="ja-JP" altLang="en-US" dirty="0"/>
              <a:t>，</a:t>
            </a:r>
            <a:r>
              <a:rPr lang="en-US" altLang="ja-JP" dirty="0"/>
              <a:t>40</a:t>
            </a:r>
          </a:p>
          <a:p>
            <a:pPr lvl="0"/>
            <a:r>
              <a:rPr lang="ja-JP" altLang="en-US" dirty="0"/>
              <a:t>需要条件（</a:t>
            </a:r>
            <a:r>
              <a:rPr lang="en-US" altLang="ja-JP" dirty="0"/>
              <a:t>CPU</a:t>
            </a:r>
            <a:r>
              <a:rPr lang="ja-JP" altLang="en-US" dirty="0"/>
              <a:t>需要上限／帯域幅需要上限）：</a:t>
            </a:r>
          </a:p>
          <a:p>
            <a:pPr marL="0" lvl="0" indent="0">
              <a:buNone/>
            </a:pPr>
            <a:r>
              <a:rPr lang="en-US" altLang="ja-JP" dirty="0"/>
              <a:t>25</a:t>
            </a:r>
            <a:r>
              <a:rPr lang="ja-JP" altLang="en-US" dirty="0"/>
              <a:t>／</a:t>
            </a:r>
            <a:r>
              <a:rPr lang="en-US" altLang="ja-JP" dirty="0"/>
              <a:t>25</a:t>
            </a:r>
            <a:r>
              <a:rPr lang="ja-JP" altLang="en-US" dirty="0"/>
              <a:t>，</a:t>
            </a:r>
            <a:r>
              <a:rPr lang="en-US" altLang="ja-JP" dirty="0"/>
              <a:t>25</a:t>
            </a:r>
            <a:r>
              <a:rPr lang="ja-JP" altLang="en-US" dirty="0"/>
              <a:t>／</a:t>
            </a:r>
            <a:r>
              <a:rPr lang="en-US" altLang="ja-JP" dirty="0"/>
              <a:t>10</a:t>
            </a:r>
            <a:r>
              <a:rPr lang="ja-JP" altLang="en-US" dirty="0"/>
              <a:t>，</a:t>
            </a:r>
            <a:r>
              <a:rPr lang="en-US" altLang="ja-JP" dirty="0"/>
              <a:t>10</a:t>
            </a:r>
            <a:r>
              <a:rPr lang="ja-JP" altLang="en-US" dirty="0"/>
              <a:t>／</a:t>
            </a:r>
            <a:r>
              <a:rPr lang="en-US" altLang="ja-JP" dirty="0"/>
              <a:t>25</a:t>
            </a:r>
          </a:p>
          <a:p>
            <a:pPr lvl="0"/>
            <a:r>
              <a:rPr lang="ja-JP" altLang="en-US" dirty="0"/>
              <a:t>実験シナリオ：</a:t>
            </a:r>
            <a:r>
              <a:rPr lang="en-US" altLang="ja-JP" dirty="0"/>
              <a:t>3×3</a:t>
            </a:r>
            <a:r>
              <a:rPr lang="ja-JP" altLang="en-US" dirty="0"/>
              <a:t>＝</a:t>
            </a:r>
            <a:r>
              <a:rPr lang="en-US" altLang="ja-JP" dirty="0"/>
              <a:t>9</a:t>
            </a:r>
            <a:r>
              <a:rPr lang="ja-JP" altLang="en-US" dirty="0"/>
              <a:t>種類</a:t>
            </a:r>
          </a:p>
          <a:p>
            <a:pPr lvl="0"/>
            <a:r>
              <a:rPr lang="ja-JP" altLang="en-US" dirty="0"/>
              <a:t>各条件：</a:t>
            </a:r>
            <a:r>
              <a:rPr lang="en-US" altLang="ja-JP" dirty="0"/>
              <a:t>5</a:t>
            </a:r>
            <a:r>
              <a:rPr lang="ja-JP" altLang="en-US" dirty="0"/>
              <a:t>回実施</a:t>
            </a:r>
            <a:endParaRPr kumimoji="1" lang="ja-JP" altLang="en-US" dirty="0"/>
          </a:p>
        </p:txBody>
      </p:sp>
      <p:sp>
        <p:nvSpPr>
          <p:cNvPr id="5" name="正方形/長方形 4">
            <a:extLst>
              <a:ext uri="{FF2B5EF4-FFF2-40B4-BE49-F238E27FC236}">
                <a16:creationId xmlns:a16="http://schemas.microsoft.com/office/drawing/2014/main" id="{6C17BA97-CD2C-16E2-92B7-77FF021414E1}"/>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7" name="正方形/長方形 6">
            <a:extLst>
              <a:ext uri="{FF2B5EF4-FFF2-40B4-BE49-F238E27FC236}">
                <a16:creationId xmlns:a16="http://schemas.microsoft.com/office/drawing/2014/main" id="{EBB45389-A394-BBF1-4CA2-881264FD375D}"/>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8" name="テキスト ボックス 7">
            <a:extLst>
              <a:ext uri="{FF2B5EF4-FFF2-40B4-BE49-F238E27FC236}">
                <a16:creationId xmlns:a16="http://schemas.microsoft.com/office/drawing/2014/main" id="{7F8604A6-A644-2B16-92F4-2DA69B3DD93D}"/>
              </a:ext>
            </a:extLst>
          </p:cNvPr>
          <p:cNvSpPr txBox="1"/>
          <p:nvPr/>
        </p:nvSpPr>
        <p:spPr>
          <a:xfrm>
            <a:off x="1209964" y="1625570"/>
            <a:ext cx="2429163" cy="1323439"/>
          </a:xfrm>
          <a:prstGeom prst="rect">
            <a:avLst/>
          </a:prstGeom>
          <a:noFill/>
        </p:spPr>
        <p:txBody>
          <a:bodyPr wrap="square" rtlCol="0">
            <a:spAutoFit/>
          </a:bodyPr>
          <a:lstStyle/>
          <a:p>
            <a:r>
              <a:rPr lang="ja-JP" altLang="ja-JP" sz="4000" b="1" dirty="0">
                <a:solidFill>
                  <a:srgbClr val="0B3E8D"/>
                </a:solidFill>
              </a:rPr>
              <a:t>実験条件</a:t>
            </a:r>
          </a:p>
          <a:p>
            <a:endParaRPr kumimoji="1" lang="ja-JP" altLang="en-US" sz="4000" dirty="0"/>
          </a:p>
        </p:txBody>
      </p:sp>
    </p:spTree>
    <p:extLst>
      <p:ext uri="{BB962C8B-B14F-4D97-AF65-F5344CB8AC3E}">
        <p14:creationId xmlns:p14="http://schemas.microsoft.com/office/powerpoint/2010/main" val="969099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8639C-A3F6-6D09-9DB0-1E977F1A87A8}"/>
              </a:ext>
            </a:extLst>
          </p:cNvPr>
          <p:cNvSpPr>
            <a:spLocks noGrp="1"/>
          </p:cNvSpPr>
          <p:nvPr>
            <p:ph type="title"/>
          </p:nvPr>
        </p:nvSpPr>
        <p:spPr>
          <a:xfrm>
            <a:off x="378593" y="344137"/>
            <a:ext cx="10515600" cy="1325563"/>
          </a:xfrm>
        </p:spPr>
        <p:txBody>
          <a:bodyPr/>
          <a:lstStyle/>
          <a:p>
            <a:r>
              <a:rPr lang="ja-JP" altLang="en-US" b="1" dirty="0">
                <a:solidFill>
                  <a:srgbClr val="113160"/>
                </a:solidFill>
              </a:rPr>
              <a:t>評価方法</a:t>
            </a:r>
            <a:endParaRPr kumimoji="1" lang="ja-JP" altLang="en-US" b="1" dirty="0">
              <a:solidFill>
                <a:srgbClr val="113160"/>
              </a:solidFill>
            </a:endParaRPr>
          </a:p>
        </p:txBody>
      </p:sp>
      <p:sp>
        <p:nvSpPr>
          <p:cNvPr id="5" name="正方形/長方形 4">
            <a:extLst>
              <a:ext uri="{FF2B5EF4-FFF2-40B4-BE49-F238E27FC236}">
                <a16:creationId xmlns:a16="http://schemas.microsoft.com/office/drawing/2014/main" id="{88D97642-4C1E-1575-C776-ED5252F3EB8E}"/>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7" name="正方形/長方形 6">
            <a:extLst>
              <a:ext uri="{FF2B5EF4-FFF2-40B4-BE49-F238E27FC236}">
                <a16:creationId xmlns:a16="http://schemas.microsoft.com/office/drawing/2014/main" id="{F4E5674B-9FAC-01B3-9BA9-D81865C4DBB5}"/>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4" name="テキスト ボックス 3">
            <a:extLst>
              <a:ext uri="{FF2B5EF4-FFF2-40B4-BE49-F238E27FC236}">
                <a16:creationId xmlns:a16="http://schemas.microsoft.com/office/drawing/2014/main" id="{AD7CDBBF-B387-3BCD-2130-2D31BDFB385B}"/>
              </a:ext>
            </a:extLst>
          </p:cNvPr>
          <p:cNvSpPr txBox="1"/>
          <p:nvPr/>
        </p:nvSpPr>
        <p:spPr>
          <a:xfrm>
            <a:off x="122643" y="1644869"/>
            <a:ext cx="4119418" cy="523220"/>
          </a:xfrm>
          <a:prstGeom prst="rect">
            <a:avLst/>
          </a:prstGeom>
          <a:noFill/>
        </p:spPr>
        <p:txBody>
          <a:bodyPr wrap="square" rtlCol="0">
            <a:spAutoFit/>
          </a:bodyPr>
          <a:lstStyle/>
          <a:p>
            <a:pPr lvl="1"/>
            <a:r>
              <a:rPr lang="ja-JP" altLang="ja-JP" sz="2800" dirty="0">
                <a:solidFill>
                  <a:srgbClr val="0B3E8D"/>
                </a:solidFill>
              </a:rPr>
              <a:t>AcceptedVnrRatio</a:t>
            </a:r>
            <a:r>
              <a:rPr lang="ja-JP" altLang="ja-JP" sz="2800" dirty="0">
                <a:solidFill>
                  <a:srgbClr val="156082"/>
                </a:solidFill>
              </a:rPr>
              <a:t> </a:t>
            </a:r>
          </a:p>
        </p:txBody>
      </p:sp>
      <p:sp>
        <p:nvSpPr>
          <p:cNvPr id="10" name="テキスト ボックス 9">
            <a:extLst>
              <a:ext uri="{FF2B5EF4-FFF2-40B4-BE49-F238E27FC236}">
                <a16:creationId xmlns:a16="http://schemas.microsoft.com/office/drawing/2014/main" id="{42A7571F-96F0-323E-A3EF-2B349ACF2B7B}"/>
              </a:ext>
            </a:extLst>
          </p:cNvPr>
          <p:cNvSpPr txBox="1"/>
          <p:nvPr/>
        </p:nvSpPr>
        <p:spPr>
          <a:xfrm>
            <a:off x="574255" y="5371006"/>
            <a:ext cx="2385761" cy="523220"/>
          </a:xfrm>
          <a:prstGeom prst="rect">
            <a:avLst/>
          </a:prstGeom>
          <a:noFill/>
        </p:spPr>
        <p:txBody>
          <a:bodyPr wrap="square" rtlCol="0">
            <a:spAutoFit/>
          </a:bodyPr>
          <a:lstStyle/>
          <a:p>
            <a:pPr lvl="1"/>
            <a:r>
              <a:rPr lang="ja-JP" altLang="ja-JP" sz="2800" dirty="0">
                <a:solidFill>
                  <a:srgbClr val="0B3E8D"/>
                </a:solidFill>
              </a:rPr>
              <a:t>実行時間 </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D531F898-BD99-8044-375B-5C7703697D4C}"/>
                  </a:ext>
                </a:extLst>
              </p:cNvPr>
              <p:cNvSpPr txBox="1"/>
              <p:nvPr/>
            </p:nvSpPr>
            <p:spPr>
              <a:xfrm>
                <a:off x="1029854" y="2286414"/>
                <a:ext cx="10515600" cy="923330"/>
              </a:xfrm>
              <a:prstGeom prst="rect">
                <a:avLst/>
              </a:prstGeom>
              <a:noFill/>
            </p:spPr>
            <p:txBody>
              <a:bodyPr wrap="square" rtlCol="0">
                <a:spAutoFit/>
              </a:bodyPr>
              <a:lstStyle/>
              <a:p>
                <a:r>
                  <a:rPr lang="ja-JP" altLang="ja-JP" dirty="0"/>
                  <a:t>受理した</a:t>
                </a:r>
                <a:r>
                  <a:rPr lang="en-US" altLang="ja-JP" dirty="0"/>
                  <a:t>VN</a:t>
                </a:r>
                <a:r>
                  <a:rPr lang="ja-JP" altLang="en-US" dirty="0"/>
                  <a:t>要求の割合。受理した</a:t>
                </a:r>
                <a:r>
                  <a:rPr lang="en-US" altLang="ja-JP" dirty="0"/>
                  <a:t>VN</a:t>
                </a:r>
                <a:r>
                  <a:rPr lang="ja-JP" altLang="en-US" dirty="0"/>
                  <a:t>要求数を</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𝑁</m:t>
                        </m:r>
                      </m:e>
                      <m:sub>
                        <m:r>
                          <m:rPr>
                            <m:sty m:val="p"/>
                          </m:rPr>
                          <a:rPr lang="ja-JP" altLang="en-US" i="1">
                            <a:latin typeface="Cambria Math" panose="02040503050406030204" pitchFamily="18" charset="0"/>
                          </a:rPr>
                          <m:t>acc</m:t>
                        </m:r>
                      </m:sub>
                    </m:sSub>
                    <m:r>
                      <a:rPr lang="ja-JP" altLang="en-US" i="1" smtClean="0">
                        <a:latin typeface="Cambria Math" panose="02040503050406030204" pitchFamily="18" charset="0"/>
                      </a:rPr>
                      <m:t>、</m:t>
                    </m:r>
                  </m:oMath>
                </a14:m>
                <a:r>
                  <a:rPr lang="ja-JP" altLang="en-US" dirty="0"/>
                  <a:t>全</a:t>
                </a:r>
                <a:r>
                  <a:rPr lang="en-US" altLang="ja-JP" dirty="0"/>
                  <a:t>VN</a:t>
                </a:r>
                <a:r>
                  <a:rPr lang="ja-JP" altLang="en-US" dirty="0"/>
                  <a:t>要求数を</a:t>
                </a:r>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𝑁</m:t>
                        </m:r>
                      </m:e>
                      <m:sub>
                        <m:r>
                          <m:rPr>
                            <m:sty m:val="p"/>
                          </m:rPr>
                          <a:rPr lang="ja-JP" altLang="en-US" i="1">
                            <a:latin typeface="Cambria Math" panose="02040503050406030204" pitchFamily="18" charset="0"/>
                          </a:rPr>
                          <m:t>all</m:t>
                        </m:r>
                      </m:sub>
                    </m:sSub>
                  </m:oMath>
                </a14:m>
                <a:r>
                  <a:rPr lang="ja-JP" altLang="en-US" dirty="0"/>
                  <a:t>とする、</a:t>
                </a:r>
                <a:r>
                  <a:rPr lang="ja-JP" altLang="ja-JP" dirty="0"/>
                  <a:t>AcceptedVnrRatio を次式で表す</a:t>
                </a:r>
                <a:r>
                  <a:rPr lang="ja-JP" altLang="en-US" dirty="0"/>
                  <a:t>。</a:t>
                </a:r>
              </a:p>
              <a:p>
                <a:endParaRPr lang="en-US" altLang="ja-JP" dirty="0"/>
              </a:p>
            </p:txBody>
          </p:sp>
        </mc:Choice>
        <mc:Fallback xmlns="">
          <p:sp>
            <p:nvSpPr>
              <p:cNvPr id="11" name="テキスト ボックス 10">
                <a:extLst>
                  <a:ext uri="{FF2B5EF4-FFF2-40B4-BE49-F238E27FC236}">
                    <a16:creationId xmlns:a16="http://schemas.microsoft.com/office/drawing/2014/main" id="{D531F898-BD99-8044-375B-5C7703697D4C}"/>
                  </a:ext>
                </a:extLst>
              </p:cNvPr>
              <p:cNvSpPr txBox="1">
                <a:spLocks noRot="1" noChangeAspect="1" noMove="1" noResize="1" noEditPoints="1" noAdjustHandles="1" noChangeArrowheads="1" noChangeShapeType="1" noTextEdit="1"/>
              </p:cNvSpPr>
              <p:nvPr/>
            </p:nvSpPr>
            <p:spPr>
              <a:xfrm>
                <a:off x="1029854" y="2286414"/>
                <a:ext cx="10515600" cy="923330"/>
              </a:xfrm>
              <a:prstGeom prst="rect">
                <a:avLst/>
              </a:prstGeom>
              <a:blipFill>
                <a:blip r:embed="rId3"/>
                <a:stretch>
                  <a:fillRect l="-522" t="-2632" r="-3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45390985-3299-8CAC-6E0B-5258B61D2716}"/>
                  </a:ext>
                </a:extLst>
              </p:cNvPr>
              <p:cNvSpPr txBox="1"/>
              <p:nvPr/>
            </p:nvSpPr>
            <p:spPr>
              <a:xfrm>
                <a:off x="1029854" y="3771271"/>
                <a:ext cx="9075103" cy="1554849"/>
              </a:xfrm>
              <a:prstGeom prst="rect">
                <a:avLst/>
              </a:prstGeom>
              <a:noFill/>
            </p:spPr>
            <p:txBody>
              <a:bodyPr wrap="square" rtlCol="0">
                <a:spAutoFit/>
              </a:bodyPr>
              <a:lstStyle/>
              <a:p>
                <a:r>
                  <a:rPr lang="ja-JP" altLang="ja-JP" dirty="0"/>
                  <a:t>物理資源の利用効率</a:t>
                </a:r>
                <a:r>
                  <a:rPr lang="ja-JP" altLang="en-US" dirty="0"/>
                  <a:t>。小さいほど効率的である。</a:t>
                </a:r>
                <a:r>
                  <a:rPr lang="ja-JP" altLang="ja-JP" dirty="0"/>
                  <a:t>消費した物理資源量 ÷ 受理した需要量</a:t>
                </a:r>
                <a:r>
                  <a:rPr lang="ja-JP" altLang="en-US" dirty="0"/>
                  <a:t>。</a:t>
                </a:r>
                <a:endParaRPr lang="en-US" altLang="ja-JP" dirty="0"/>
              </a:p>
              <a:p>
                <a:r>
                  <a:rPr lang="ja-JP" altLang="en-US" dirty="0"/>
                  <a:t>　受理した</a:t>
                </a:r>
                <a:r>
                  <a:rPr lang="en-US" altLang="ja-JP" dirty="0"/>
                  <a:t>VN</a:t>
                </a:r>
                <a:r>
                  <a:rPr lang="ja-JP" altLang="en-US" dirty="0"/>
                  <a:t>要求に含まれる仮想ノードの</a:t>
                </a:r>
                <a:r>
                  <a:rPr lang="en-US" altLang="ja-JP" dirty="0"/>
                  <a:t>CPU</a:t>
                </a:r>
                <a:r>
                  <a:rPr lang="ja-JP" altLang="en-US" dirty="0"/>
                  <a:t>需要を</a:t>
                </a:r>
                <a14:m>
                  <m:oMath xmlns:m="http://schemas.openxmlformats.org/officeDocument/2006/math">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𝑑</m:t>
                        </m:r>
                      </m:e>
                      <m:sub>
                        <m:r>
                          <a:rPr lang="en-US" altLang="ja-JP" i="1" dirty="0">
                            <a:latin typeface="Cambria Math" panose="02040503050406030204" pitchFamily="18" charset="0"/>
                          </a:rPr>
                          <m:t>𝑖</m:t>
                        </m:r>
                      </m:sub>
                      <m:sup>
                        <m:r>
                          <m:rPr>
                            <m:sty m:val="p"/>
                          </m:rPr>
                          <a:rPr lang="en-US" altLang="ja-JP" i="0" dirty="0">
                            <a:latin typeface="Cambria Math" panose="02040503050406030204" pitchFamily="18" charset="0"/>
                          </a:rPr>
                          <m:t>CPU</m:t>
                        </m:r>
                      </m:sup>
                    </m:sSubSup>
                  </m:oMath>
                </a14:m>
                <a:r>
                  <a:rPr lang="ja-JP" altLang="en-US" dirty="0"/>
                  <a:t>，仮想リンクの帯域幅需要を</a:t>
                </a:r>
                <a14:m>
                  <m:oMath xmlns:m="http://schemas.openxmlformats.org/officeDocument/2006/math">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𝑑</m:t>
                        </m:r>
                      </m:e>
                      <m:sub>
                        <m:r>
                          <a:rPr lang="en-US" altLang="ja-JP" i="1" dirty="0">
                            <a:latin typeface="Cambria Math" panose="02040503050406030204" pitchFamily="18" charset="0"/>
                          </a:rPr>
                          <m:t>𝑗</m:t>
                        </m:r>
                      </m:sub>
                      <m:sup>
                        <m:r>
                          <m:rPr>
                            <m:sty m:val="p"/>
                          </m:rPr>
                          <a:rPr lang="en-US" altLang="ja-JP" i="0" dirty="0">
                            <a:latin typeface="Cambria Math" panose="02040503050406030204" pitchFamily="18" charset="0"/>
                          </a:rPr>
                          <m:t>BW</m:t>
                        </m:r>
                      </m:sup>
                    </m:sSubSup>
                  </m:oMath>
                </a14:m>
                <a:r>
                  <a:rPr lang="ja-JP" altLang="en-US" dirty="0"/>
                  <a:t>、物理ノードで消費した</a:t>
                </a:r>
                <a:r>
                  <a:rPr lang="en-US" altLang="ja-JP" dirty="0"/>
                  <a:t>CPU</a:t>
                </a:r>
                <a:r>
                  <a:rPr lang="ja-JP" altLang="en-US" dirty="0"/>
                  <a:t>資源を</a:t>
                </a:r>
                <a14:m>
                  <m:oMath xmlns:m="http://schemas.openxmlformats.org/officeDocument/2006/math">
                    <m:sSubSup>
                      <m:sSubSupPr>
                        <m:ctrlPr>
                          <a:rPr lang="en-US" altLang="ja-JP" i="1" dirty="0">
                            <a:latin typeface="Cambria Math" panose="02040503050406030204" pitchFamily="18" charset="0"/>
                          </a:rPr>
                        </m:ctrlPr>
                      </m:sSubSupPr>
                      <m:e>
                        <m:r>
                          <a:rPr lang="en-US" altLang="ja-JP" i="1" dirty="0">
                            <a:latin typeface="Cambria Math" panose="02040503050406030204" pitchFamily="18" charset="0"/>
                          </a:rPr>
                          <m:t>𝑐</m:t>
                        </m:r>
                      </m:e>
                      <m:sub>
                        <m:r>
                          <a:rPr lang="en-US" altLang="ja-JP" i="1" dirty="0">
                            <a:latin typeface="Cambria Math" panose="02040503050406030204" pitchFamily="18" charset="0"/>
                          </a:rPr>
                          <m:t>𝑘</m:t>
                        </m:r>
                      </m:sub>
                      <m:sup>
                        <m:r>
                          <m:rPr>
                            <m:sty m:val="p"/>
                          </m:rPr>
                          <a:rPr lang="en-US" altLang="ja-JP" i="0" dirty="0">
                            <a:latin typeface="Cambria Math" panose="02040503050406030204" pitchFamily="18" charset="0"/>
                          </a:rPr>
                          <m:t>CPU</m:t>
                        </m:r>
                      </m:sup>
                    </m:sSubSup>
                  </m:oMath>
                </a14:m>
                <a:r>
                  <a:rPr lang="ja-JP" altLang="en-US" dirty="0"/>
                  <a:t>，物理リンクで消費した帯域幅資源</a:t>
                </a:r>
                <a14:m>
                  <m:oMath xmlns:m="http://schemas.openxmlformats.org/officeDocument/2006/math">
                    <m:sSubSup>
                      <m:sSubSupPr>
                        <m:ctrlPr>
                          <a:rPr lang="en-US" altLang="ja-JP" i="1" dirty="0" smtClean="0">
                            <a:latin typeface="Cambria Math" panose="02040503050406030204" pitchFamily="18" charset="0"/>
                          </a:rPr>
                        </m:ctrlPr>
                      </m:sSubSupPr>
                      <m:e>
                        <m:r>
                          <a:rPr lang="en-US" altLang="ja-JP" i="1" dirty="0" smtClean="0">
                            <a:latin typeface="Cambria Math" panose="02040503050406030204" pitchFamily="18" charset="0"/>
                          </a:rPr>
                          <m:t>𝑐</m:t>
                        </m:r>
                      </m:e>
                      <m:sub>
                        <m:r>
                          <a:rPr lang="en-US" altLang="ja-JP" i="1" dirty="0" smtClean="0">
                            <a:latin typeface="Cambria Math" panose="02040503050406030204" pitchFamily="18" charset="0"/>
                          </a:rPr>
                          <m:t>𝑙</m:t>
                        </m:r>
                      </m:sub>
                      <m:sup>
                        <m:r>
                          <m:rPr>
                            <m:sty m:val="p"/>
                          </m:rPr>
                          <a:rPr lang="en-US" altLang="ja-JP" i="0" dirty="0" smtClean="0">
                            <a:latin typeface="Cambria Math" panose="02040503050406030204" pitchFamily="18" charset="0"/>
                          </a:rPr>
                          <m:t>BW</m:t>
                        </m:r>
                      </m:sup>
                    </m:sSubSup>
                  </m:oMath>
                </a14:m>
                <a:r>
                  <a:rPr lang="ja-JP" altLang="en-US" dirty="0"/>
                  <a:t>とすると、</a:t>
                </a:r>
                <a:r>
                  <a:rPr lang="ja-JP" altLang="ja-JP" dirty="0"/>
                  <a:t>CostRevenue を次式で表す</a:t>
                </a:r>
                <a:r>
                  <a:rPr lang="ja-JP" altLang="en-US" dirty="0"/>
                  <a:t>。</a:t>
                </a:r>
                <a:endParaRPr kumimoji="1" lang="ja-JP" altLang="en-US" dirty="0"/>
              </a:p>
            </p:txBody>
          </p:sp>
        </mc:Choice>
        <mc:Fallback xmlns="">
          <p:sp>
            <p:nvSpPr>
              <p:cNvPr id="12" name="テキスト ボックス 11">
                <a:extLst>
                  <a:ext uri="{FF2B5EF4-FFF2-40B4-BE49-F238E27FC236}">
                    <a16:creationId xmlns:a16="http://schemas.microsoft.com/office/drawing/2014/main" id="{45390985-3299-8CAC-6E0B-5258B61D2716}"/>
                  </a:ext>
                </a:extLst>
              </p:cNvPr>
              <p:cNvSpPr txBox="1">
                <a:spLocks noRot="1" noChangeAspect="1" noMove="1" noResize="1" noEditPoints="1" noAdjustHandles="1" noChangeArrowheads="1" noChangeShapeType="1" noTextEdit="1"/>
              </p:cNvSpPr>
              <p:nvPr/>
            </p:nvSpPr>
            <p:spPr>
              <a:xfrm>
                <a:off x="1029854" y="3771271"/>
                <a:ext cx="9075103" cy="1554849"/>
              </a:xfrm>
              <a:prstGeom prst="rect">
                <a:avLst/>
              </a:prstGeom>
              <a:blipFill>
                <a:blip r:embed="rId4"/>
                <a:stretch>
                  <a:fillRect l="-604" t="-2353" b="-5490"/>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0E3B385D-C1F6-F5A6-D477-2362D27AA999}"/>
              </a:ext>
            </a:extLst>
          </p:cNvPr>
          <p:cNvSpPr txBox="1"/>
          <p:nvPr/>
        </p:nvSpPr>
        <p:spPr>
          <a:xfrm>
            <a:off x="4451927" y="2974109"/>
            <a:ext cx="65" cy="276999"/>
          </a:xfrm>
          <a:prstGeom prst="rect">
            <a:avLst/>
          </a:prstGeom>
          <a:noFill/>
        </p:spPr>
        <p:txBody>
          <a:bodyPr wrap="none" lIns="0" tIns="0" rIns="0" bIns="0" rtlCol="0">
            <a:spAutoFit/>
          </a:bodyPr>
          <a:lstStyle/>
          <a:p>
            <a:endParaRPr kumimoji="1" lang="ja-JP" altLang="en-US" dirty="0"/>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B20F7ECF-E87D-D4EE-08E8-557F160CA448}"/>
                  </a:ext>
                </a:extLst>
              </p:cNvPr>
              <p:cNvSpPr txBox="1"/>
              <p:nvPr/>
            </p:nvSpPr>
            <p:spPr>
              <a:xfrm>
                <a:off x="3823064" y="2642486"/>
                <a:ext cx="3230050" cy="565348"/>
              </a:xfrm>
              <a:prstGeom prst="rect">
                <a:avLst/>
              </a:prstGeom>
              <a:noFill/>
            </p:spPr>
            <p:txBody>
              <a:bodyPr wrap="none" lIns="0" tIns="0" rIns="0" bIns="0" rtlCol="0">
                <a:spAutoFit/>
              </a:bodyPr>
              <a:lstStyle/>
              <a:p>
                <a:pPr/>
                <a14:m>
                  <m:oMathPara xmlns:m="http://schemas.openxmlformats.org/officeDocument/2006/math">
                    <m:oMath>
                      <m:r>
                        <m:rPr>
                          <m:sty m:val="p"/>
                        </m:rPr>
                        <a:rPr lang="en-US" altLang="ja-JP" i="1" smtClean="0">
                          <a:latin typeface="Cambria Math" panose="02040503050406030204" pitchFamily="18" charset="0"/>
                        </a:rPr>
                        <m:t>AcceptedVnrRatio</m:t>
                      </m:r>
                      <m:r>
                        <a:rPr lang="en-US" altLang="ja-JP" i="1" smtClean="0">
                          <a:latin typeface="Cambria Math" panose="02040503050406030204" pitchFamily="18" charset="0"/>
                        </a:rPr>
                        <m:t>=</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𝑁</m:t>
                              </m:r>
                            </m:e>
                            <m:sub>
                              <m:r>
                                <m:rPr>
                                  <m:sty m:val="p"/>
                                </m:rPr>
                                <a:rPr lang="en-US" altLang="ja-JP" i="1">
                                  <a:latin typeface="Cambria Math" panose="02040503050406030204" pitchFamily="18" charset="0"/>
                                </a:rPr>
                                <m:t>acc</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𝑁</m:t>
                              </m:r>
                            </m:e>
                            <m:sub>
                              <m:r>
                                <m:rPr>
                                  <m:sty m:val="p"/>
                                </m:rPr>
                                <a:rPr lang="en-US" altLang="ja-JP" i="1">
                                  <a:latin typeface="Cambria Math" panose="02040503050406030204" pitchFamily="18" charset="0"/>
                                </a:rPr>
                                <m:t>all</m:t>
                              </m:r>
                            </m:sub>
                          </m:sSub>
                        </m:den>
                      </m:f>
                      <m:r>
                        <a:rPr lang="en-US" altLang="ja-JP" i="1">
                          <a:latin typeface="Cambria Math" panose="02040503050406030204" pitchFamily="18" charset="0"/>
                        </a:rPr>
                        <m:t>×100</m:t>
                      </m:r>
                    </m:oMath>
                  </m:oMathPara>
                </a14:m>
                <a:endParaRPr kumimoji="1" lang="ja-JP" altLang="en-US" dirty="0"/>
              </a:p>
            </p:txBody>
          </p:sp>
        </mc:Choice>
        <mc:Fallback xmlns="">
          <p:sp>
            <p:nvSpPr>
              <p:cNvPr id="19" name="テキスト ボックス 18">
                <a:extLst>
                  <a:ext uri="{FF2B5EF4-FFF2-40B4-BE49-F238E27FC236}">
                    <a16:creationId xmlns:a16="http://schemas.microsoft.com/office/drawing/2014/main" id="{B20F7ECF-E87D-D4EE-08E8-557F160CA448}"/>
                  </a:ext>
                </a:extLst>
              </p:cNvPr>
              <p:cNvSpPr txBox="1">
                <a:spLocks noRot="1" noChangeAspect="1" noMove="1" noResize="1" noEditPoints="1" noAdjustHandles="1" noChangeArrowheads="1" noChangeShapeType="1" noTextEdit="1"/>
              </p:cNvSpPr>
              <p:nvPr/>
            </p:nvSpPr>
            <p:spPr>
              <a:xfrm>
                <a:off x="3823064" y="2642486"/>
                <a:ext cx="3230050" cy="565348"/>
              </a:xfrm>
              <a:prstGeom prst="rect">
                <a:avLst/>
              </a:prstGeom>
              <a:blipFill>
                <a:blip r:embed="rId5"/>
                <a:stretch>
                  <a:fillRect/>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33CE86E0-52B3-917D-6182-8F9465D85F60}"/>
              </a:ext>
            </a:extLst>
          </p:cNvPr>
          <p:cNvSpPr txBox="1"/>
          <p:nvPr/>
        </p:nvSpPr>
        <p:spPr>
          <a:xfrm>
            <a:off x="574255" y="3251108"/>
            <a:ext cx="2888371" cy="523220"/>
          </a:xfrm>
          <a:prstGeom prst="rect">
            <a:avLst/>
          </a:prstGeom>
          <a:noFill/>
        </p:spPr>
        <p:txBody>
          <a:bodyPr wrap="square" rtlCol="0">
            <a:spAutoFit/>
          </a:bodyPr>
          <a:lstStyle/>
          <a:p>
            <a:r>
              <a:rPr lang="ja-JP" altLang="ja-JP" sz="2800" dirty="0">
                <a:solidFill>
                  <a:srgbClr val="0B3E8D"/>
                </a:solidFill>
              </a:rPr>
              <a:t>CostRevenue</a:t>
            </a:r>
            <a:endParaRPr kumimoji="1" lang="ja-JP" altLang="en-US" sz="2800" dirty="0">
              <a:solidFill>
                <a:srgbClr val="0B3E8D"/>
              </a:solidFill>
            </a:endParaRPr>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5A304553-2A5C-C050-8E56-F10A3ED938E5}"/>
                  </a:ext>
                </a:extLst>
              </p:cNvPr>
              <p:cNvSpPr txBox="1"/>
              <p:nvPr/>
            </p:nvSpPr>
            <p:spPr>
              <a:xfrm>
                <a:off x="3866362" y="5128887"/>
                <a:ext cx="3402085" cy="685572"/>
              </a:xfrm>
              <a:prstGeom prst="rect">
                <a:avLst/>
              </a:prstGeom>
              <a:noFill/>
            </p:spPr>
            <p:txBody>
              <a:bodyPr wrap="none" lIns="0" tIns="0" rIns="0" bIns="0" rtlCol="0">
                <a:spAutoFit/>
              </a:bodyPr>
              <a:lstStyle/>
              <a:p>
                <a:pPr/>
                <a14:m>
                  <m:oMathPara xmlns:m="http://schemas.openxmlformats.org/officeDocument/2006/math">
                    <m:oMath>
                      <m:r>
                        <m:rPr>
                          <m:sty m:val="p"/>
                        </m:rPr>
                        <a:rPr lang="en-US" altLang="ja-JP" i="1" smtClean="0">
                          <a:latin typeface="Cambria Math" panose="02040503050406030204" pitchFamily="18" charset="0"/>
                        </a:rPr>
                        <m:t>CostRevenue</m:t>
                      </m:r>
                      <m:r>
                        <a:rPr lang="en-US" altLang="ja-JP" i="1" smtClean="0">
                          <a:latin typeface="Cambria Math" panose="02040503050406030204" pitchFamily="18" charset="0"/>
                        </a:rPr>
                        <m:t>=</m:t>
                      </m:r>
                      <m:f>
                        <m:fPr>
                          <m:ctrlPr>
                            <a:rPr lang="en-US" altLang="ja-JP" i="1">
                              <a:latin typeface="Cambria Math" panose="02040503050406030204" pitchFamily="18" charset="0"/>
                            </a:rPr>
                          </m:ctrlPr>
                        </m:fPr>
                        <m:num>
                          <m:nary>
                            <m:naryPr>
                              <m:chr m:val="∑"/>
                              <m:limLoc m:val="undOvr"/>
                              <m:supHide m:val="on"/>
                              <m:ctrlPr>
                                <a:rPr lang="en-US" altLang="ja-JP" i="1">
                                  <a:latin typeface="Cambria Math" panose="02040503050406030204" pitchFamily="18" charset="0"/>
                                </a:rPr>
                              </m:ctrlPr>
                            </m:naryPr>
                            <m:sub>
                              <m:r>
                                <a:rPr lang="en-US" altLang="ja-JP" i="1">
                                  <a:latin typeface="Cambria Math" panose="02040503050406030204" pitchFamily="18" charset="0"/>
                                </a:rPr>
                                <m:t>𝑘</m:t>
                              </m:r>
                            </m:sub>
                            <m:sup/>
                            <m:e>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𝑐</m:t>
                                  </m:r>
                                </m:e>
                                <m:sub>
                                  <m:r>
                                    <a:rPr lang="en-US" altLang="ja-JP" i="1">
                                      <a:latin typeface="Cambria Math" panose="02040503050406030204" pitchFamily="18" charset="0"/>
                                    </a:rPr>
                                    <m:t>𝑘</m:t>
                                  </m:r>
                                </m:sub>
                                <m:sup>
                                  <m:r>
                                    <m:rPr>
                                      <m:sty m:val="p"/>
                                    </m:rPr>
                                    <a:rPr lang="en-US" altLang="ja-JP" i="1">
                                      <a:latin typeface="Cambria Math" panose="02040503050406030204" pitchFamily="18" charset="0"/>
                                    </a:rPr>
                                    <m:t>CPU</m:t>
                                  </m:r>
                                </m:sup>
                              </m:sSubSup>
                            </m:e>
                          </m:nary>
                          <m:r>
                            <a:rPr lang="en-US" altLang="ja-JP" i="1">
                              <a:latin typeface="Cambria Math" panose="02040503050406030204" pitchFamily="18" charset="0"/>
                            </a:rPr>
                            <m:t>+</m:t>
                          </m:r>
                          <m:nary>
                            <m:naryPr>
                              <m:chr m:val="∑"/>
                              <m:limLoc m:val="undOvr"/>
                              <m:supHide m:val="on"/>
                              <m:ctrlPr>
                                <a:rPr lang="en-US" altLang="ja-JP" i="1">
                                  <a:latin typeface="Cambria Math" panose="02040503050406030204" pitchFamily="18" charset="0"/>
                                </a:rPr>
                              </m:ctrlPr>
                            </m:naryPr>
                            <m:sub>
                              <m:r>
                                <a:rPr lang="en-US" altLang="ja-JP" i="1">
                                  <a:latin typeface="Cambria Math" panose="02040503050406030204" pitchFamily="18" charset="0"/>
                                </a:rPr>
                                <m:t>𝑙</m:t>
                              </m:r>
                            </m:sub>
                            <m:sup/>
                            <m:e>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𝑐</m:t>
                                  </m:r>
                                </m:e>
                                <m:sub>
                                  <m:r>
                                    <a:rPr lang="en-US" altLang="ja-JP" i="1">
                                      <a:latin typeface="Cambria Math" panose="02040503050406030204" pitchFamily="18" charset="0"/>
                                    </a:rPr>
                                    <m:t>𝑙</m:t>
                                  </m:r>
                                </m:sub>
                                <m:sup>
                                  <m:r>
                                    <m:rPr>
                                      <m:sty m:val="p"/>
                                    </m:rPr>
                                    <a:rPr lang="en-US" altLang="ja-JP" i="1">
                                      <a:latin typeface="Cambria Math" panose="02040503050406030204" pitchFamily="18" charset="0"/>
                                    </a:rPr>
                                    <m:t>BW</m:t>
                                  </m:r>
                                </m:sup>
                              </m:sSubSup>
                            </m:e>
                          </m:nary>
                        </m:num>
                        <m:den>
                          <m:nary>
                            <m:naryPr>
                              <m:chr m:val="∑"/>
                              <m:limLoc m:val="undOvr"/>
                              <m:supHide m:val="on"/>
                              <m:ctrlPr>
                                <a:rPr lang="en-US" altLang="ja-JP" i="1">
                                  <a:latin typeface="Cambria Math" panose="02040503050406030204" pitchFamily="18" charset="0"/>
                                </a:rPr>
                              </m:ctrlPr>
                            </m:naryPr>
                            <m:sub>
                              <m:r>
                                <a:rPr lang="en-US" altLang="ja-JP" i="1">
                                  <a:latin typeface="Cambria Math" panose="02040503050406030204" pitchFamily="18" charset="0"/>
                                </a:rPr>
                                <m:t>𝑖</m:t>
                              </m:r>
                            </m:sub>
                            <m:sup/>
                            <m:e>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𝑑</m:t>
                                  </m:r>
                                </m:e>
                                <m:sub>
                                  <m:r>
                                    <a:rPr lang="en-US" altLang="ja-JP" i="1">
                                      <a:latin typeface="Cambria Math" panose="02040503050406030204" pitchFamily="18" charset="0"/>
                                    </a:rPr>
                                    <m:t>𝑖</m:t>
                                  </m:r>
                                </m:sub>
                                <m:sup>
                                  <m:r>
                                    <m:rPr>
                                      <m:sty m:val="p"/>
                                    </m:rPr>
                                    <a:rPr lang="en-US" altLang="ja-JP" i="1">
                                      <a:latin typeface="Cambria Math" panose="02040503050406030204" pitchFamily="18" charset="0"/>
                                    </a:rPr>
                                    <m:t>CPU</m:t>
                                  </m:r>
                                </m:sup>
                              </m:sSubSup>
                            </m:e>
                          </m:nary>
                          <m:r>
                            <a:rPr lang="en-US" altLang="ja-JP" i="1">
                              <a:latin typeface="Cambria Math" panose="02040503050406030204" pitchFamily="18" charset="0"/>
                            </a:rPr>
                            <m:t>+</m:t>
                          </m:r>
                          <m:nary>
                            <m:naryPr>
                              <m:chr m:val="∑"/>
                              <m:limLoc m:val="undOvr"/>
                              <m:supHide m:val="on"/>
                              <m:ctrlPr>
                                <a:rPr lang="en-US" altLang="ja-JP" i="1">
                                  <a:latin typeface="Cambria Math" panose="02040503050406030204" pitchFamily="18" charset="0"/>
                                </a:rPr>
                              </m:ctrlPr>
                            </m:naryPr>
                            <m:sub>
                              <m:r>
                                <a:rPr lang="en-US" altLang="ja-JP" i="1">
                                  <a:latin typeface="Cambria Math" panose="02040503050406030204" pitchFamily="18" charset="0"/>
                                </a:rPr>
                                <m:t>𝑗</m:t>
                              </m:r>
                            </m:sub>
                            <m:sup/>
                            <m:e>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𝑑</m:t>
                                  </m:r>
                                </m:e>
                                <m:sub>
                                  <m:r>
                                    <a:rPr lang="en-US" altLang="ja-JP" i="1">
                                      <a:latin typeface="Cambria Math" panose="02040503050406030204" pitchFamily="18" charset="0"/>
                                    </a:rPr>
                                    <m:t>𝑗</m:t>
                                  </m:r>
                                </m:sub>
                                <m:sup>
                                  <m:r>
                                    <m:rPr>
                                      <m:sty m:val="p"/>
                                    </m:rPr>
                                    <a:rPr lang="en-US" altLang="ja-JP" i="1">
                                      <a:latin typeface="Cambria Math" panose="02040503050406030204" pitchFamily="18" charset="0"/>
                                    </a:rPr>
                                    <m:t>BW</m:t>
                                  </m:r>
                                </m:sup>
                              </m:sSubSup>
                            </m:e>
                          </m:nary>
                        </m:den>
                      </m:f>
                    </m:oMath>
                  </m:oMathPara>
                </a14:m>
                <a:endParaRPr kumimoji="1" lang="ja-JP" altLang="en-US" dirty="0"/>
              </a:p>
            </p:txBody>
          </p:sp>
        </mc:Choice>
        <mc:Fallback xmlns="">
          <p:sp>
            <p:nvSpPr>
              <p:cNvPr id="27" name="テキスト ボックス 26">
                <a:extLst>
                  <a:ext uri="{FF2B5EF4-FFF2-40B4-BE49-F238E27FC236}">
                    <a16:creationId xmlns:a16="http://schemas.microsoft.com/office/drawing/2014/main" id="{5A304553-2A5C-C050-8E56-F10A3ED938E5}"/>
                  </a:ext>
                </a:extLst>
              </p:cNvPr>
              <p:cNvSpPr txBox="1">
                <a:spLocks noRot="1" noChangeAspect="1" noMove="1" noResize="1" noEditPoints="1" noAdjustHandles="1" noChangeArrowheads="1" noChangeShapeType="1" noTextEdit="1"/>
              </p:cNvSpPr>
              <p:nvPr/>
            </p:nvSpPr>
            <p:spPr>
              <a:xfrm>
                <a:off x="3866362" y="5128887"/>
                <a:ext cx="3402085" cy="685572"/>
              </a:xfrm>
              <a:prstGeom prst="rect">
                <a:avLst/>
              </a:prstGeom>
              <a:blipFill>
                <a:blip r:embed="rId6"/>
                <a:stretch>
                  <a:fillRect/>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0C632A7B-9D86-B754-2019-A3660CE779D9}"/>
              </a:ext>
            </a:extLst>
          </p:cNvPr>
          <p:cNvSpPr txBox="1"/>
          <p:nvPr/>
        </p:nvSpPr>
        <p:spPr>
          <a:xfrm>
            <a:off x="1029854" y="5894226"/>
            <a:ext cx="2564091" cy="369332"/>
          </a:xfrm>
          <a:prstGeom prst="rect">
            <a:avLst/>
          </a:prstGeom>
          <a:noFill/>
        </p:spPr>
        <p:txBody>
          <a:bodyPr wrap="square" rtlCol="0">
            <a:spAutoFit/>
          </a:bodyPr>
          <a:lstStyle/>
          <a:p>
            <a:r>
              <a:rPr lang="ja-JP" altLang="en-US" dirty="0">
                <a:solidFill>
                  <a:srgbClr val="000000"/>
                </a:solidFill>
                <a:latin typeface="Yu Gothic"/>
              </a:rPr>
              <a:t>処理にかかった時間</a:t>
            </a:r>
            <a:endParaRPr kumimoji="1" lang="ja-JP" altLang="en-US" dirty="0"/>
          </a:p>
        </p:txBody>
      </p:sp>
    </p:spTree>
    <p:extLst>
      <p:ext uri="{BB962C8B-B14F-4D97-AF65-F5344CB8AC3E}">
        <p14:creationId xmlns:p14="http://schemas.microsoft.com/office/powerpoint/2010/main" val="2815691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575325-F258-8DAA-7AE1-68E37C5F15B0}"/>
              </a:ext>
            </a:extLst>
          </p:cNvPr>
          <p:cNvSpPr>
            <a:spLocks noGrp="1"/>
          </p:cNvSpPr>
          <p:nvPr>
            <p:ph type="title"/>
          </p:nvPr>
        </p:nvSpPr>
        <p:spPr>
          <a:xfrm>
            <a:off x="378593" y="363043"/>
            <a:ext cx="10515600" cy="1325563"/>
          </a:xfrm>
        </p:spPr>
        <p:txBody>
          <a:bodyPr/>
          <a:lstStyle/>
          <a:p>
            <a:r>
              <a:rPr kumimoji="1" lang="ja-JP" altLang="en-US" b="1" dirty="0">
                <a:solidFill>
                  <a:srgbClr val="113160"/>
                </a:solidFill>
              </a:rPr>
              <a:t>実験結果</a:t>
            </a:r>
          </a:p>
        </p:txBody>
      </p:sp>
      <p:pic>
        <p:nvPicPr>
          <p:cNvPr id="5" name="コンテンツ プレースホルダー 4">
            <a:extLst>
              <a:ext uri="{FF2B5EF4-FFF2-40B4-BE49-F238E27FC236}">
                <a16:creationId xmlns:a16="http://schemas.microsoft.com/office/drawing/2014/main" id="{67B7BA58-E5AF-5419-FE09-282D543B5A7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520" y="1548176"/>
            <a:ext cx="3969351" cy="3439459"/>
          </a:xfrm>
          <a:prstGeom prst="rect">
            <a:avLst/>
          </a:prstGeom>
        </p:spPr>
      </p:pic>
      <p:pic>
        <p:nvPicPr>
          <p:cNvPr id="7" name="図 6">
            <a:extLst>
              <a:ext uri="{FF2B5EF4-FFF2-40B4-BE49-F238E27FC236}">
                <a16:creationId xmlns:a16="http://schemas.microsoft.com/office/drawing/2014/main" id="{F81667C1-8FC3-5506-FC52-F4B170026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4686" y="1548177"/>
            <a:ext cx="3921020" cy="3559532"/>
          </a:xfrm>
          <a:prstGeom prst="rect">
            <a:avLst/>
          </a:prstGeom>
        </p:spPr>
      </p:pic>
      <p:pic>
        <p:nvPicPr>
          <p:cNvPr id="9" name="図 8">
            <a:extLst>
              <a:ext uri="{FF2B5EF4-FFF2-40B4-BE49-F238E27FC236}">
                <a16:creationId xmlns:a16="http://schemas.microsoft.com/office/drawing/2014/main" id="{D3641C3E-CE37-4FC5-B81C-58B8EBA11B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5706" y="1548177"/>
            <a:ext cx="3904306" cy="3559532"/>
          </a:xfrm>
          <a:prstGeom prst="rect">
            <a:avLst/>
          </a:prstGeom>
        </p:spPr>
      </p:pic>
      <p:sp>
        <p:nvSpPr>
          <p:cNvPr id="10" name="テキスト ボックス 9">
            <a:extLst>
              <a:ext uri="{FF2B5EF4-FFF2-40B4-BE49-F238E27FC236}">
                <a16:creationId xmlns:a16="http://schemas.microsoft.com/office/drawing/2014/main" id="{C4AC5F0C-90AF-EE86-4838-412D86F12836}"/>
              </a:ext>
            </a:extLst>
          </p:cNvPr>
          <p:cNvSpPr txBox="1"/>
          <p:nvPr/>
        </p:nvSpPr>
        <p:spPr>
          <a:xfrm>
            <a:off x="378593" y="4593018"/>
            <a:ext cx="3742567" cy="892552"/>
          </a:xfrm>
          <a:prstGeom prst="rect">
            <a:avLst/>
          </a:prstGeom>
          <a:noFill/>
        </p:spPr>
        <p:txBody>
          <a:bodyPr wrap="square" rtlCol="0">
            <a:spAutoFit/>
          </a:bodyPr>
          <a:lstStyle/>
          <a:p>
            <a:r>
              <a:rPr kumimoji="1" lang="ja-JP" altLang="en-US" sz="3200" dirty="0">
                <a:solidFill>
                  <a:srgbClr val="0B3E8D"/>
                </a:solidFill>
              </a:rPr>
              <a:t>受理率</a:t>
            </a:r>
            <a:br>
              <a:rPr kumimoji="1" lang="ja-JP" altLang="en-US" dirty="0"/>
            </a:br>
            <a:r>
              <a:rPr kumimoji="1" lang="ja-JP" altLang="en-US" sz="2000" dirty="0"/>
              <a:t>寺生が</a:t>
            </a:r>
            <a:r>
              <a:rPr kumimoji="1" lang="en-US" altLang="ja-JP" sz="2000" dirty="0"/>
              <a:t>9</a:t>
            </a:r>
            <a:r>
              <a:rPr kumimoji="1" lang="ja-JP" altLang="en-US" sz="2000" dirty="0"/>
              <a:t>条件中</a:t>
            </a:r>
            <a:r>
              <a:rPr kumimoji="1" lang="en-US" altLang="ja-JP" sz="2000" dirty="0"/>
              <a:t>6</a:t>
            </a:r>
            <a:r>
              <a:rPr kumimoji="1" lang="ja-JP" altLang="en-US" sz="2000" dirty="0"/>
              <a:t>条件で上回る</a:t>
            </a:r>
          </a:p>
        </p:txBody>
      </p:sp>
      <p:sp>
        <p:nvSpPr>
          <p:cNvPr id="12" name="テキスト ボックス 11">
            <a:extLst>
              <a:ext uri="{FF2B5EF4-FFF2-40B4-BE49-F238E27FC236}">
                <a16:creationId xmlns:a16="http://schemas.microsoft.com/office/drawing/2014/main" id="{8861AF19-53DE-13EB-8820-561CC927C812}"/>
              </a:ext>
            </a:extLst>
          </p:cNvPr>
          <p:cNvSpPr txBox="1"/>
          <p:nvPr/>
        </p:nvSpPr>
        <p:spPr>
          <a:xfrm>
            <a:off x="4429328" y="4593018"/>
            <a:ext cx="3811915" cy="892552"/>
          </a:xfrm>
          <a:prstGeom prst="rect">
            <a:avLst/>
          </a:prstGeom>
          <a:noFill/>
        </p:spPr>
        <p:txBody>
          <a:bodyPr wrap="square" rtlCol="0">
            <a:spAutoFit/>
          </a:bodyPr>
          <a:lstStyle/>
          <a:p>
            <a:r>
              <a:rPr kumimoji="1" lang="en-US" altLang="ja-JP" sz="3200" dirty="0" err="1">
                <a:solidFill>
                  <a:srgbClr val="0B3E8D"/>
                </a:solidFill>
              </a:rPr>
              <a:t>CostRevenue</a:t>
            </a:r>
            <a:br>
              <a:rPr kumimoji="1" lang="en-US" altLang="ja-JP" dirty="0"/>
            </a:br>
            <a:r>
              <a:rPr kumimoji="1" lang="ja-JP" altLang="en-US" sz="2000" dirty="0"/>
              <a:t>寺生が全条件で小さい</a:t>
            </a:r>
          </a:p>
        </p:txBody>
      </p:sp>
      <p:sp>
        <p:nvSpPr>
          <p:cNvPr id="14" name="テキスト ボックス 13">
            <a:extLst>
              <a:ext uri="{FF2B5EF4-FFF2-40B4-BE49-F238E27FC236}">
                <a16:creationId xmlns:a16="http://schemas.microsoft.com/office/drawing/2014/main" id="{51B40C13-B0E7-5469-DA5A-925F6F868E31}"/>
              </a:ext>
            </a:extLst>
          </p:cNvPr>
          <p:cNvSpPr txBox="1"/>
          <p:nvPr/>
        </p:nvSpPr>
        <p:spPr>
          <a:xfrm>
            <a:off x="8549412" y="4593018"/>
            <a:ext cx="3493509" cy="892552"/>
          </a:xfrm>
          <a:prstGeom prst="rect">
            <a:avLst/>
          </a:prstGeom>
          <a:noFill/>
        </p:spPr>
        <p:txBody>
          <a:bodyPr wrap="square" rtlCol="0">
            <a:spAutoFit/>
          </a:bodyPr>
          <a:lstStyle/>
          <a:p>
            <a:r>
              <a:rPr kumimoji="1" lang="ja-JP" altLang="en-US" sz="3200" dirty="0">
                <a:solidFill>
                  <a:srgbClr val="0B3E8D"/>
                </a:solidFill>
              </a:rPr>
              <a:t>実行時間</a:t>
            </a:r>
            <a:br>
              <a:rPr kumimoji="1" lang="ja-JP" altLang="en-US" dirty="0"/>
            </a:br>
            <a:r>
              <a:rPr kumimoji="1" lang="ja-JP" altLang="en-US" sz="2000" dirty="0"/>
              <a:t>二ノ宮が全条件で短い</a:t>
            </a:r>
          </a:p>
        </p:txBody>
      </p:sp>
      <p:sp>
        <p:nvSpPr>
          <p:cNvPr id="4" name="正方形/長方形 3">
            <a:extLst>
              <a:ext uri="{FF2B5EF4-FFF2-40B4-BE49-F238E27FC236}">
                <a16:creationId xmlns:a16="http://schemas.microsoft.com/office/drawing/2014/main" id="{0149F582-D597-D3E8-1175-5592EA9646DE}"/>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8" name="正方形/長方形 7">
            <a:extLst>
              <a:ext uri="{FF2B5EF4-FFF2-40B4-BE49-F238E27FC236}">
                <a16:creationId xmlns:a16="http://schemas.microsoft.com/office/drawing/2014/main" id="{6654979D-057A-DE3E-60D9-DEB2F8BE7E0C}"/>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Tree>
    <p:extLst>
      <p:ext uri="{BB962C8B-B14F-4D97-AF65-F5344CB8AC3E}">
        <p14:creationId xmlns:p14="http://schemas.microsoft.com/office/powerpoint/2010/main" val="222523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336596-5349-3D73-90D7-03B6763D15C5}"/>
              </a:ext>
            </a:extLst>
          </p:cNvPr>
          <p:cNvSpPr>
            <a:spLocks noGrp="1"/>
          </p:cNvSpPr>
          <p:nvPr>
            <p:ph type="title"/>
          </p:nvPr>
        </p:nvSpPr>
        <p:spPr>
          <a:xfrm>
            <a:off x="238152" y="390935"/>
            <a:ext cx="10515600" cy="1325563"/>
          </a:xfrm>
        </p:spPr>
        <p:txBody>
          <a:bodyPr/>
          <a:lstStyle/>
          <a:p>
            <a:r>
              <a:rPr lang="ja-JP" altLang="ja-JP" b="1" dirty="0">
                <a:solidFill>
                  <a:srgbClr val="113160"/>
                </a:solidFill>
              </a:rPr>
              <a:t>考察・まとめ</a:t>
            </a:r>
            <a:endParaRPr kumimoji="1" lang="ja-JP" altLang="en-US" b="1" dirty="0">
              <a:solidFill>
                <a:srgbClr val="113160"/>
              </a:solidFill>
            </a:endParaRPr>
          </a:p>
        </p:txBody>
      </p:sp>
      <p:sp>
        <p:nvSpPr>
          <p:cNvPr id="6" name="テキスト ボックス 5">
            <a:extLst>
              <a:ext uri="{FF2B5EF4-FFF2-40B4-BE49-F238E27FC236}">
                <a16:creationId xmlns:a16="http://schemas.microsoft.com/office/drawing/2014/main" id="{5106D041-2FA3-CD96-7A92-BC4D6A052436}"/>
              </a:ext>
            </a:extLst>
          </p:cNvPr>
          <p:cNvSpPr txBox="1"/>
          <p:nvPr/>
        </p:nvSpPr>
        <p:spPr>
          <a:xfrm>
            <a:off x="2058670" y="1668802"/>
            <a:ext cx="1756949" cy="707886"/>
          </a:xfrm>
          <a:prstGeom prst="rect">
            <a:avLst/>
          </a:prstGeom>
          <a:noFill/>
        </p:spPr>
        <p:txBody>
          <a:bodyPr wrap="square" rtlCol="0">
            <a:spAutoFit/>
          </a:bodyPr>
          <a:lstStyle/>
          <a:p>
            <a:r>
              <a:rPr kumimoji="1" lang="ja-JP" altLang="en-US" sz="4000" dirty="0">
                <a:solidFill>
                  <a:srgbClr val="0B3E8D"/>
                </a:solidFill>
              </a:rPr>
              <a:t>まとめ</a:t>
            </a:r>
          </a:p>
        </p:txBody>
      </p:sp>
      <p:sp>
        <p:nvSpPr>
          <p:cNvPr id="7" name="テキスト ボックス 6">
            <a:extLst>
              <a:ext uri="{FF2B5EF4-FFF2-40B4-BE49-F238E27FC236}">
                <a16:creationId xmlns:a16="http://schemas.microsoft.com/office/drawing/2014/main" id="{D8C242F4-C2D1-990E-4666-7FC0CE3B5A3A}"/>
              </a:ext>
            </a:extLst>
          </p:cNvPr>
          <p:cNvSpPr txBox="1"/>
          <p:nvPr/>
        </p:nvSpPr>
        <p:spPr>
          <a:xfrm>
            <a:off x="422032" y="2556179"/>
            <a:ext cx="5500466" cy="3785652"/>
          </a:xfrm>
          <a:prstGeom prst="rect">
            <a:avLst/>
          </a:prstGeom>
          <a:noFill/>
        </p:spPr>
        <p:txBody>
          <a:bodyPr wrap="square" rtlCol="0">
            <a:spAutoFit/>
          </a:bodyPr>
          <a:lstStyle/>
          <a:p>
            <a:pPr lvl="0"/>
            <a:r>
              <a:rPr lang="ja-JP" altLang="en-US" sz="2400" dirty="0"/>
              <a:t>・</a:t>
            </a:r>
            <a:r>
              <a:rPr lang="ja-JP" altLang="ja-JP" sz="2400" dirty="0"/>
              <a:t>二ノ宮手法</a:t>
            </a:r>
            <a:r>
              <a:rPr lang="ja-JP" altLang="en-US" sz="2400" dirty="0"/>
              <a:t>、</a:t>
            </a:r>
            <a:r>
              <a:rPr lang="ja-JP" altLang="ja-JP" sz="2400" dirty="0"/>
              <a:t>寺生手法</a:t>
            </a:r>
            <a:r>
              <a:rPr lang="ja-JP" altLang="en-US" sz="2400" dirty="0"/>
              <a:t>、ダイクストラ法を</a:t>
            </a:r>
            <a:r>
              <a:rPr lang="ja-JP" altLang="ja-JP" sz="2400" dirty="0"/>
              <a:t>ALEVINへ実装し，同一条件で比較した </a:t>
            </a:r>
            <a:endParaRPr lang="en-US" altLang="ja-JP" sz="2400" dirty="0"/>
          </a:p>
          <a:p>
            <a:pPr lvl="0"/>
            <a:endParaRPr lang="ja-JP" altLang="ja-JP" sz="2400" dirty="0"/>
          </a:p>
          <a:p>
            <a:pPr lvl="0"/>
            <a:r>
              <a:rPr lang="ja-JP" altLang="en-US" sz="2400" dirty="0"/>
              <a:t>・</a:t>
            </a:r>
            <a:r>
              <a:rPr lang="ja-JP" altLang="ja-JP" sz="2400" dirty="0"/>
              <a:t>寺生手法は，受理率で9条件中6条件を上回り，CostRevenueは全条件で</a:t>
            </a:r>
            <a:endParaRPr lang="en-US" altLang="ja-JP" sz="2400" dirty="0"/>
          </a:p>
          <a:p>
            <a:pPr lvl="0"/>
            <a:r>
              <a:rPr lang="ja-JP" altLang="ja-JP" sz="2400" dirty="0"/>
              <a:t>小さかった </a:t>
            </a:r>
            <a:endParaRPr lang="en-US" altLang="ja-JP" sz="2400" dirty="0"/>
          </a:p>
          <a:p>
            <a:pPr lvl="0"/>
            <a:endParaRPr lang="ja-JP" altLang="ja-JP" sz="2400" dirty="0"/>
          </a:p>
          <a:p>
            <a:pPr lvl="0"/>
            <a:r>
              <a:rPr lang="ja-JP" altLang="en-US" sz="2400" dirty="0"/>
              <a:t>・</a:t>
            </a:r>
            <a:r>
              <a:rPr lang="ja-JP" altLang="ja-JP" sz="2400" dirty="0"/>
              <a:t>二ノ宮手法は，全条件で実行時間が短かった</a:t>
            </a:r>
          </a:p>
        </p:txBody>
      </p:sp>
      <p:sp>
        <p:nvSpPr>
          <p:cNvPr id="4" name="正方形/長方形 3">
            <a:extLst>
              <a:ext uri="{FF2B5EF4-FFF2-40B4-BE49-F238E27FC236}">
                <a16:creationId xmlns:a16="http://schemas.microsoft.com/office/drawing/2014/main" id="{3E1AF9C5-11C0-1021-6391-B679FAEEB8CE}"/>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0" name="正方形/長方形 9">
            <a:extLst>
              <a:ext uri="{FF2B5EF4-FFF2-40B4-BE49-F238E27FC236}">
                <a16:creationId xmlns:a16="http://schemas.microsoft.com/office/drawing/2014/main" id="{532992DD-7B59-F6E6-DC8E-8F246FE8ED0C}"/>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1" name="テキスト ボックス 10">
            <a:extLst>
              <a:ext uri="{FF2B5EF4-FFF2-40B4-BE49-F238E27FC236}">
                <a16:creationId xmlns:a16="http://schemas.microsoft.com/office/drawing/2014/main" id="{D1314DC7-320D-5736-9B4A-1E34194109A5}"/>
              </a:ext>
            </a:extLst>
          </p:cNvPr>
          <p:cNvSpPr txBox="1"/>
          <p:nvPr/>
        </p:nvSpPr>
        <p:spPr>
          <a:xfrm>
            <a:off x="7740230" y="1664395"/>
            <a:ext cx="1756949" cy="707886"/>
          </a:xfrm>
          <a:prstGeom prst="rect">
            <a:avLst/>
          </a:prstGeom>
          <a:noFill/>
        </p:spPr>
        <p:txBody>
          <a:bodyPr wrap="square" rtlCol="0">
            <a:spAutoFit/>
          </a:bodyPr>
          <a:lstStyle/>
          <a:p>
            <a:r>
              <a:rPr lang="ja-JP" altLang="en-US" sz="4000" dirty="0">
                <a:solidFill>
                  <a:srgbClr val="0B3E8D"/>
                </a:solidFill>
              </a:rPr>
              <a:t>考察</a:t>
            </a:r>
            <a:endParaRPr kumimoji="1" lang="ja-JP" altLang="en-US" sz="4000" dirty="0">
              <a:solidFill>
                <a:srgbClr val="0B3E8D"/>
              </a:solidFill>
            </a:endParaRPr>
          </a:p>
        </p:txBody>
      </p:sp>
      <p:sp>
        <p:nvSpPr>
          <p:cNvPr id="12" name="テキスト ボックス 11">
            <a:extLst>
              <a:ext uri="{FF2B5EF4-FFF2-40B4-BE49-F238E27FC236}">
                <a16:creationId xmlns:a16="http://schemas.microsoft.com/office/drawing/2014/main" id="{3685769F-C48B-8E3E-8FCE-5D5586C855ED}"/>
              </a:ext>
            </a:extLst>
          </p:cNvPr>
          <p:cNvSpPr txBox="1"/>
          <p:nvPr/>
        </p:nvSpPr>
        <p:spPr>
          <a:xfrm>
            <a:off x="6095999" y="2556179"/>
            <a:ext cx="5673969" cy="2954655"/>
          </a:xfrm>
          <a:prstGeom prst="rect">
            <a:avLst/>
          </a:prstGeom>
          <a:noFill/>
        </p:spPr>
        <p:txBody>
          <a:bodyPr wrap="square" rtlCol="0">
            <a:spAutoFit/>
          </a:bodyPr>
          <a:lstStyle/>
          <a:p>
            <a:pPr lvl="0"/>
            <a:r>
              <a:rPr lang="ja-JP" altLang="en-US" sz="2800" dirty="0"/>
              <a:t>・</a:t>
            </a:r>
            <a:r>
              <a:rPr lang="ja-JP" altLang="ja-JP" sz="2800" dirty="0"/>
              <a:t>寺生手法は帯域を考慮するため，リンクマッピングに必要な帯域を確保しやすいと考えられる </a:t>
            </a:r>
            <a:endParaRPr lang="en-US" altLang="ja-JP" sz="2800" dirty="0"/>
          </a:p>
          <a:p>
            <a:pPr lvl="0"/>
            <a:endParaRPr lang="ja-JP" altLang="ja-JP" sz="2800" dirty="0"/>
          </a:p>
          <a:p>
            <a:pPr lvl="0"/>
            <a:r>
              <a:rPr lang="ja-JP" altLang="en-US" sz="2800" dirty="0"/>
              <a:t>・</a:t>
            </a:r>
            <a:r>
              <a:rPr lang="ja-JP" altLang="ja-JP" sz="2800" dirty="0"/>
              <a:t>二ノ宮手法は早期棄却により，後続処理を省略した可能性がある</a:t>
            </a:r>
          </a:p>
          <a:p>
            <a:endParaRPr kumimoji="1" lang="ja-JP" altLang="en-US" dirty="0"/>
          </a:p>
        </p:txBody>
      </p:sp>
    </p:spTree>
    <p:extLst>
      <p:ext uri="{BB962C8B-B14F-4D97-AF65-F5344CB8AC3E}">
        <p14:creationId xmlns:p14="http://schemas.microsoft.com/office/powerpoint/2010/main" val="238435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7EE9-12A2-74DE-C1FB-B9436463886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1C629E-768B-1990-B75A-BB054222EE86}"/>
              </a:ext>
            </a:extLst>
          </p:cNvPr>
          <p:cNvSpPr>
            <a:spLocks noGrp="1"/>
          </p:cNvSpPr>
          <p:nvPr>
            <p:ph type="title"/>
          </p:nvPr>
        </p:nvSpPr>
        <p:spPr>
          <a:xfrm>
            <a:off x="238152" y="390935"/>
            <a:ext cx="10515600" cy="1325563"/>
          </a:xfrm>
        </p:spPr>
        <p:txBody>
          <a:bodyPr/>
          <a:lstStyle/>
          <a:p>
            <a:r>
              <a:rPr lang="ja-JP" altLang="ja-JP" b="1" dirty="0">
                <a:solidFill>
                  <a:srgbClr val="113160"/>
                </a:solidFill>
              </a:rPr>
              <a:t>今後の課題</a:t>
            </a:r>
            <a:endParaRPr kumimoji="1" lang="ja-JP" altLang="en-US" b="1" dirty="0">
              <a:solidFill>
                <a:srgbClr val="113160"/>
              </a:solidFill>
            </a:endParaRPr>
          </a:p>
        </p:txBody>
      </p:sp>
      <p:sp>
        <p:nvSpPr>
          <p:cNvPr id="8" name="テキスト ボックス 7">
            <a:extLst>
              <a:ext uri="{FF2B5EF4-FFF2-40B4-BE49-F238E27FC236}">
                <a16:creationId xmlns:a16="http://schemas.microsoft.com/office/drawing/2014/main" id="{091A963F-2004-A801-05C0-C0AE2A699ADA}"/>
              </a:ext>
            </a:extLst>
          </p:cNvPr>
          <p:cNvSpPr txBox="1"/>
          <p:nvPr/>
        </p:nvSpPr>
        <p:spPr>
          <a:xfrm>
            <a:off x="275924" y="1875811"/>
            <a:ext cx="3112654" cy="707886"/>
          </a:xfrm>
          <a:prstGeom prst="rect">
            <a:avLst/>
          </a:prstGeom>
          <a:noFill/>
        </p:spPr>
        <p:txBody>
          <a:bodyPr wrap="square" rtlCol="0">
            <a:spAutoFit/>
          </a:bodyPr>
          <a:lstStyle/>
          <a:p>
            <a:r>
              <a:rPr kumimoji="1" lang="ja-JP" altLang="en-US" sz="4000" dirty="0">
                <a:solidFill>
                  <a:srgbClr val="0B3E8D"/>
                </a:solidFill>
              </a:rPr>
              <a:t>今後の課題</a:t>
            </a:r>
          </a:p>
        </p:txBody>
      </p:sp>
      <p:sp>
        <p:nvSpPr>
          <p:cNvPr id="9" name="テキスト ボックス 8">
            <a:extLst>
              <a:ext uri="{FF2B5EF4-FFF2-40B4-BE49-F238E27FC236}">
                <a16:creationId xmlns:a16="http://schemas.microsoft.com/office/drawing/2014/main" id="{D280DD44-192D-7E75-369A-814BD8857AEA}"/>
              </a:ext>
            </a:extLst>
          </p:cNvPr>
          <p:cNvSpPr txBox="1"/>
          <p:nvPr/>
        </p:nvSpPr>
        <p:spPr>
          <a:xfrm>
            <a:off x="1679334" y="2743010"/>
            <a:ext cx="10207866" cy="3539430"/>
          </a:xfrm>
          <a:prstGeom prst="rect">
            <a:avLst/>
          </a:prstGeom>
          <a:noFill/>
        </p:spPr>
        <p:txBody>
          <a:bodyPr wrap="square" rtlCol="0">
            <a:spAutoFit/>
          </a:bodyPr>
          <a:lstStyle/>
          <a:p>
            <a:pPr lvl="0"/>
            <a:r>
              <a:rPr lang="ja-JP" altLang="en-US" sz="3200" dirty="0"/>
              <a:t>・物理</a:t>
            </a:r>
            <a:r>
              <a:rPr lang="ja-JP" altLang="ja-JP" sz="3200" dirty="0"/>
              <a:t>ノード数を固定し，</a:t>
            </a:r>
            <a:r>
              <a:rPr lang="ja-JP" altLang="en-US" sz="3200" dirty="0"/>
              <a:t>実験を行う</a:t>
            </a:r>
            <a:endParaRPr lang="en-US" altLang="ja-JP" sz="3200" dirty="0"/>
          </a:p>
          <a:p>
            <a:pPr lvl="0"/>
            <a:endParaRPr lang="ja-JP" altLang="ja-JP" sz="3200" dirty="0"/>
          </a:p>
          <a:p>
            <a:pPr lvl="0"/>
            <a:r>
              <a:rPr lang="ja-JP" altLang="en-US" sz="3200" dirty="0"/>
              <a:t>・</a:t>
            </a:r>
            <a:r>
              <a:rPr lang="ja-JP" altLang="ja-JP" sz="3200" dirty="0"/>
              <a:t>処理別の実行時間と棄却数を計測し，時間差の要因を</a:t>
            </a:r>
            <a:r>
              <a:rPr lang="ja-JP" altLang="en-US" sz="3200" dirty="0"/>
              <a:t>見つける</a:t>
            </a:r>
            <a:r>
              <a:rPr lang="ja-JP" altLang="ja-JP" sz="3200" dirty="0"/>
              <a:t> </a:t>
            </a:r>
            <a:endParaRPr lang="en-US" altLang="ja-JP" sz="3200" dirty="0"/>
          </a:p>
          <a:p>
            <a:pPr lvl="0"/>
            <a:endParaRPr lang="ja-JP" altLang="ja-JP" sz="3200" dirty="0"/>
          </a:p>
          <a:p>
            <a:pPr lvl="0"/>
            <a:r>
              <a:rPr lang="ja-JP" altLang="en-US" sz="3200" dirty="0"/>
              <a:t>・</a:t>
            </a:r>
            <a:r>
              <a:rPr lang="ja-JP" altLang="ja-JP" sz="3200" dirty="0"/>
              <a:t>有向グラフを無向グラフへ変更し，再評価する</a:t>
            </a:r>
          </a:p>
          <a:p>
            <a:endParaRPr kumimoji="1" lang="ja-JP" altLang="en-US" sz="3200" dirty="0"/>
          </a:p>
        </p:txBody>
      </p:sp>
      <p:sp>
        <p:nvSpPr>
          <p:cNvPr id="4" name="正方形/長方形 3">
            <a:extLst>
              <a:ext uri="{FF2B5EF4-FFF2-40B4-BE49-F238E27FC236}">
                <a16:creationId xmlns:a16="http://schemas.microsoft.com/office/drawing/2014/main" id="{8AD5622F-D80E-4042-1FCB-6D3A0D4111F0}"/>
              </a:ext>
            </a:extLst>
          </p:cNvPr>
          <p:cNvSpPr/>
          <p:nvPr/>
        </p:nvSpPr>
        <p:spPr>
          <a:xfrm>
            <a:off x="173255" y="646545"/>
            <a:ext cx="102669" cy="72074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
        <p:nvSpPr>
          <p:cNvPr id="10" name="正方形/長方形 9">
            <a:extLst>
              <a:ext uri="{FF2B5EF4-FFF2-40B4-BE49-F238E27FC236}">
                <a16:creationId xmlns:a16="http://schemas.microsoft.com/office/drawing/2014/main" id="{2805C457-A245-313D-964B-11AAB0050FE0}"/>
              </a:ext>
            </a:extLst>
          </p:cNvPr>
          <p:cNvSpPr/>
          <p:nvPr/>
        </p:nvSpPr>
        <p:spPr>
          <a:xfrm>
            <a:off x="275924" y="1302328"/>
            <a:ext cx="10889672" cy="64965"/>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13160"/>
              </a:solidFill>
            </a:endParaRPr>
          </a:p>
        </p:txBody>
      </p:sp>
    </p:spTree>
    <p:extLst>
      <p:ext uri="{BB962C8B-B14F-4D97-AF65-F5344CB8AC3E}">
        <p14:creationId xmlns:p14="http://schemas.microsoft.com/office/powerpoint/2010/main" val="388501491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508</TotalTime>
  <Words>1714</Words>
  <Application>Microsoft Office PowerPoint</Application>
  <PresentationFormat>ワイド画面</PresentationFormat>
  <Paragraphs>135</Paragraphs>
  <Slides>10</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Yu Gothic</vt:lpstr>
      <vt:lpstr>Yu Gothic</vt:lpstr>
      <vt:lpstr>游ゴシック Light</vt:lpstr>
      <vt:lpstr>Arial</vt:lpstr>
      <vt:lpstr>Cambria Math</vt:lpstr>
      <vt:lpstr>Office テーマ</vt:lpstr>
      <vt:lpstr>NFV上の最適経路割り当て問題</vt:lpstr>
      <vt:lpstr>仮想ネットワーク埋め込み問題（VNE）とは</vt:lpstr>
      <vt:lpstr>比較対象手法</vt:lpstr>
      <vt:lpstr>ALEVIN[1]</vt:lpstr>
      <vt:lpstr>ALEVIN</vt:lpstr>
      <vt:lpstr>実験条件</vt:lpstr>
      <vt:lpstr>評価方法</vt:lpstr>
      <vt:lpstr>実験結果</vt:lpstr>
      <vt:lpstr>考察・まとめ</vt:lpstr>
      <vt:lpstr>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202103316</dc:creator>
  <cp:lastModifiedBy>202103316</cp:lastModifiedBy>
  <cp:revision>18</cp:revision>
  <dcterms:created xsi:type="dcterms:W3CDTF">2026-08-05T20:09:11Z</dcterms:created>
  <dcterms:modified xsi:type="dcterms:W3CDTF">2026-08-17T02:08:13Z</dcterms:modified>
</cp:coreProperties>
</file>